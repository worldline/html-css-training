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34" r:id="rId1"/>
  </p:sldMasterIdLst>
  <p:sldIdLst>
    <p:sldId id="256" r:id="rId2"/>
    <p:sldId id="259" r:id="rId3"/>
    <p:sldId id="257" r:id="rId4"/>
    <p:sldId id="258" r:id="rId5"/>
    <p:sldId id="261" r:id="rId6"/>
    <p:sldId id="262" r:id="rId7"/>
    <p:sldId id="263" r:id="rId8"/>
    <p:sldId id="264" r:id="rId9"/>
    <p:sldId id="267" r:id="rId10"/>
    <p:sldId id="268" r:id="rId11"/>
    <p:sldId id="270" r:id="rId12"/>
    <p:sldId id="269" r:id="rId13"/>
    <p:sldId id="271" r:id="rId14"/>
    <p:sldId id="265" r:id="rId15"/>
    <p:sldId id="288" r:id="rId16"/>
    <p:sldId id="266" r:id="rId17"/>
    <p:sldId id="287" r:id="rId18"/>
    <p:sldId id="279" r:id="rId19"/>
    <p:sldId id="278" r:id="rId20"/>
    <p:sldId id="272" r:id="rId21"/>
    <p:sldId id="273" r:id="rId22"/>
    <p:sldId id="274" r:id="rId23"/>
    <p:sldId id="280" r:id="rId24"/>
    <p:sldId id="281" r:id="rId25"/>
    <p:sldId id="282" r:id="rId26"/>
    <p:sldId id="284" r:id="rId27"/>
    <p:sldId id="285" r:id="rId28"/>
    <p:sldId id="286" r:id="rId2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OLLET VILLARD, SYLVAIN" initials="PVS" lastIdx="1" clrIdx="0">
    <p:extLst>
      <p:ext uri="{19B8F6BF-5375-455C-9EA6-DF929625EA0E}">
        <p15:presenceInfo xmlns:p15="http://schemas.microsoft.com/office/powerpoint/2012/main" userId="S::sylvain.polletvillard@worldline.com::73180ea0-8ac6-4cad-b8e9-906c9e904426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300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011" autoAdjust="0"/>
    <p:restoredTop sz="94660"/>
  </p:normalViewPr>
  <p:slideViewPr>
    <p:cSldViewPr snapToGrid="0">
      <p:cViewPr varScale="1">
        <p:scale>
          <a:sx n="95" d="100"/>
          <a:sy n="95" d="100"/>
        </p:scale>
        <p:origin x="67" y="7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commentAuthors" Target="commentAuthor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bg>
      <p:bgPr>
        <a:gradFill flip="none" rotWithShape="1">
          <a:gsLst>
            <a:gs pos="0">
              <a:srgbClr val="B1DDFF"/>
            </a:gs>
            <a:gs pos="100000">
              <a:srgbClr val="B1DDFF">
                <a:lumMod val="64000"/>
                <a:lumOff val="36000"/>
              </a:srgb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12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368300" ty="203200" sx="64000" sy="64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prstClr val="white"/>
                </a:solidFill>
              </a:rPr>
              <a:t>C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11" name="Rectangle 10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bg2"/>
            </a:solidFill>
            <a:prstDash val="solid"/>
            <a:miter lim="800000"/>
          </a:ln>
          <a:effectLst/>
        </p:spPr>
      </p:sp>
      <p:sp>
        <p:nvSpPr>
          <p:cNvPr id="15" name="Rectangle 14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4" name="Group 3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 tIns="45720" bIns="45720" anchor="ctr">
            <a:noAutofit/>
          </a:bodyPr>
          <a:lstStyle>
            <a:lvl1pPr algn="ctr">
              <a:lnSpc>
                <a:spcPct val="83000"/>
              </a:lnSpc>
              <a:defRPr lang="en-US" sz="7200" b="0" kern="1200" cap="all" spc="-1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 spc="80" baseline="0">
                <a:solidFill>
                  <a:schemeClr val="bg2"/>
                </a:solidFill>
              </a:defRPr>
            </a:lvl1pPr>
            <a:lvl2pPr marL="457200" indent="0" algn="ctr">
              <a:buNone/>
              <a:defRPr sz="1600"/>
            </a:lvl2pPr>
            <a:lvl3pPr marL="914400" indent="0" algn="ctr">
              <a:buNone/>
              <a:defRPr sz="16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20" name="Date Placeholder 19"/>
          <p:cNvSpPr>
            <a:spLocks noGrp="1"/>
          </p:cNvSpPr>
          <p:nvPr>
            <p:ph type="dt" sz="half" idx="10"/>
          </p:nvPr>
        </p:nvSpPr>
        <p:spPr>
          <a:xfrm>
            <a:off x="5318760" y="1341255"/>
            <a:ext cx="1554480" cy="527213"/>
          </a:xfrm>
        </p:spPr>
        <p:txBody>
          <a:bodyPr/>
          <a:lstStyle>
            <a:lvl1pPr algn="ctr">
              <a:defRPr sz="1300" spc="0" baseline="0">
                <a:solidFill>
                  <a:srgbClr val="FFFFFF"/>
                </a:solidFill>
                <a:latin typeface="+mn-lt"/>
              </a:defRPr>
            </a:lvl1pPr>
          </a:lstStyle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11"/>
          </p:nvPr>
        </p:nvSpPr>
        <p:spPr>
          <a:xfrm>
            <a:off x="1453896" y="5212080"/>
            <a:ext cx="5905500" cy="228600"/>
          </a:xfrm>
        </p:spPr>
        <p:txBody>
          <a:bodyPr/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22" name="Slide Number Placeholder 21"/>
          <p:cNvSpPr>
            <a:spLocks noGrp="1"/>
          </p:cNvSpPr>
          <p:nvPr>
            <p:ph type="sldNum" sz="quarter" idx="12"/>
          </p:nvPr>
        </p:nvSpPr>
        <p:spPr>
          <a:xfrm>
            <a:off x="8606919" y="5212080"/>
            <a:ext cx="2111881" cy="2286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41468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6203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gradFill flip="none" rotWithShape="1">
          <a:gsLst>
            <a:gs pos="0">
              <a:schemeClr val="bg2">
                <a:tint val="80000"/>
                <a:shade val="100000"/>
                <a:satMod val="300000"/>
              </a:schemeClr>
            </a:gs>
            <a:gs pos="100000">
              <a:srgbClr val="B1DDFF">
                <a:lumMod val="64000"/>
                <a:lumOff val="36000"/>
              </a:srgb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12000"/>
              <a:duotone>
                <a:schemeClr val="accent2">
                  <a:shade val="45000"/>
                  <a:satMod val="135000"/>
                </a:schemeClr>
                <a:prstClr val="white"/>
              </a:duotone>
            </a:blip>
            <a:srcRect/>
            <a:tile tx="-368300" ty="203200" sx="64000" sy="64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prstClr val="white"/>
                </a:solidFill>
              </a:rPr>
              <a:t>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</p:sp>
      <p:sp>
        <p:nvSpPr>
          <p:cNvPr id="24" name="Rectangle 23"/>
          <p:cNvSpPr/>
          <p:nvPr/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bg2"/>
            </a:solidFill>
            <a:prstDash val="solid"/>
            <a:miter lim="800000"/>
          </a:ln>
          <a:effectLst/>
        </p:spPr>
      </p:sp>
      <p:sp>
        <p:nvSpPr>
          <p:cNvPr id="30" name="Rectangle 29"/>
          <p:cNvSpPr/>
          <p:nvPr/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grpSp>
        <p:nvGrpSpPr>
          <p:cNvPr id="31" name="Group 30"/>
          <p:cNvGrpSpPr/>
          <p:nvPr/>
        </p:nvGrpSpPr>
        <p:grpSpPr>
          <a:xfrm>
            <a:off x="5250180" y="1267730"/>
            <a:ext cx="1691640" cy="645295"/>
            <a:chOff x="5318306" y="1386268"/>
            <a:chExt cx="1567331" cy="645295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/>
            <p:nvPr/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/>
            <p:cNvCxnSpPr/>
            <p:nvPr/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3623" y="2094309"/>
            <a:ext cx="9070848" cy="2587752"/>
          </a:xfrm>
        </p:spPr>
        <p:txBody>
          <a:bodyPr anchor="ctr">
            <a:noAutofit/>
          </a:bodyPr>
          <a:lstStyle>
            <a:lvl1pPr algn="ctr">
              <a:lnSpc>
                <a:spcPct val="83000"/>
              </a:lnSpc>
              <a:defRPr lang="en-US" sz="7200" kern="1200" cap="all" spc="-100" baseline="0" dirty="0">
                <a:solidFill>
                  <a:schemeClr val="bg1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3624" y="4682062"/>
            <a:ext cx="9070848" cy="457200"/>
          </a:xfrm>
        </p:spPr>
        <p:txBody>
          <a:bodyPr anchor="t">
            <a:normAutofit/>
          </a:bodyPr>
          <a:lstStyle>
            <a:lvl1pPr marL="0" indent="0" algn="ctr">
              <a:buNone/>
              <a:tabLst>
                <a:tab pos="2633663" algn="l"/>
              </a:tabLst>
              <a:defRPr sz="1600">
                <a:solidFill>
                  <a:schemeClr val="bg2"/>
                </a:solidFill>
                <a:effectLst/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321808" y="1344502"/>
            <a:ext cx="1554480" cy="530352"/>
          </a:xfrm>
        </p:spPr>
        <p:txBody>
          <a:bodyPr/>
          <a:lstStyle>
            <a:lvl1pPr algn="ctr">
              <a:defRPr lang="en-US" sz="1300" kern="1200" spc="0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3896" y="5212080"/>
            <a:ext cx="5907024" cy="228600"/>
          </a:xfrm>
        </p:spPr>
        <p:txBody>
          <a:bodyPr/>
          <a:lstStyle>
            <a:lvl1pPr algn="l"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04504" y="5212080"/>
            <a:ext cx="2112264" cy="2286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2371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680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70320" y="2103120"/>
            <a:ext cx="4754880" cy="374904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9520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tx2"/>
                </a:solidFill>
                <a:latin typeface="+mn-lt"/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55898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3368" y="2074334"/>
            <a:ext cx="4754880" cy="640080"/>
          </a:xfrm>
        </p:spPr>
        <p:txBody>
          <a:bodyPr anchor="ctr">
            <a:normAutofit/>
          </a:bodyPr>
          <a:lstStyle>
            <a:lvl1pPr marL="0" indent="0" algn="ctr">
              <a:spcBef>
                <a:spcPts val="0"/>
              </a:spcBef>
              <a:buNone/>
              <a:defRPr sz="1800" b="0">
                <a:solidFill>
                  <a:schemeClr val="tx2"/>
                </a:solidFill>
              </a:defRPr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3368" y="2756581"/>
            <a:ext cx="4754880" cy="3200400"/>
          </a:xfrm>
        </p:spPr>
        <p:txBody>
          <a:bodyPr/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76339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3978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8994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7392"/>
            <a:ext cx="2430780" cy="1645920"/>
          </a:xfrm>
        </p:spPr>
        <p:txBody>
          <a:bodyPr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2800" b="0" kern="1200" cap="none" spc="0" baseline="0" dirty="0">
                <a:solidFill>
                  <a:srgbClr val="FFFFFF"/>
                </a:solidFill>
                <a:effectLst/>
                <a:latin typeface="+mj-lt"/>
                <a:ea typeface="+mn-ea"/>
                <a:cs typeface="+mn-cs"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609600"/>
            <a:ext cx="7772400" cy="5334000"/>
          </a:xfrm>
        </p:spPr>
        <p:txBody>
          <a:bodyPr/>
          <a:lstStyle>
            <a:lvl1pPr>
              <a:defRPr sz="1900"/>
            </a:lvl1pPr>
            <a:lvl2pPr>
              <a:defRPr sz="16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0780" cy="3505200"/>
          </a:xfrm>
        </p:spPr>
        <p:txBody>
          <a:bodyPr>
            <a:normAutofit/>
          </a:bodyPr>
          <a:lstStyle>
            <a:lvl1pPr marL="0" indent="0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177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9020386" y="237744"/>
            <a:ext cx="2926080" cy="6382512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9157546" y="374904"/>
            <a:ext cx="2651760" cy="6108192"/>
          </a:xfrm>
          <a:prstGeom prst="rect">
            <a:avLst/>
          </a:prstGeom>
          <a:noFill/>
          <a:ln w="6350" cap="sq">
            <a:solidFill>
              <a:srgbClr val="FFFFF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96400" y="603504"/>
            <a:ext cx="2432304" cy="1645920"/>
          </a:xfrm>
        </p:spPr>
        <p:txBody>
          <a:bodyPr anchor="b">
            <a:noAutofit/>
          </a:bodyPr>
          <a:lstStyle>
            <a:lvl1pPr algn="l">
              <a:defRPr sz="2800" b="0">
                <a:solidFill>
                  <a:srgbClr val="FFFFFF"/>
                </a:solidFill>
                <a:latin typeface="+mj-lt"/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28599" y="237744"/>
            <a:ext cx="8531352" cy="6382512"/>
          </a:xfrm>
          <a:solidFill>
            <a:srgbClr val="969696"/>
          </a:solidFill>
          <a:ln>
            <a:noFill/>
          </a:ln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296400" y="2286000"/>
            <a:ext cx="2432304" cy="3502152"/>
          </a:xfrm>
        </p:spPr>
        <p:txBody>
          <a:bodyPr>
            <a:normAutofit/>
          </a:bodyPr>
          <a:lstStyle>
            <a:lvl1pPr marL="0" indent="0" algn="l">
              <a:lnSpc>
                <a:spcPct val="110000"/>
              </a:lnSpc>
              <a:spcBef>
                <a:spcPts val="800"/>
              </a:spcBef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effectLst>
                  <a:outerShdw blurRad="12700" dist="381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12" name="Footer Placeholder 11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 algn="r">
              <a:defRPr lang="en-US" sz="1000" kern="1200" dirty="0">
                <a:solidFill>
                  <a:schemeClr val="tx1">
                    <a:lumMod val="75000"/>
                    <a:lumOff val="25000"/>
                  </a:schemeClr>
                </a:solidFill>
                <a:effectLst>
                  <a:outerShdw blurRad="12700" dist="3810" dir="2700000" algn="tl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7913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56674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1600" y="762000"/>
            <a:ext cx="2362200" cy="5257800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762000"/>
            <a:ext cx="8077200" cy="5257800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765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4696" y="237744"/>
            <a:ext cx="11722608" cy="6382512"/>
          </a:xfrm>
          <a:prstGeom prst="rect">
            <a:avLst/>
          </a:prstGeom>
          <a:solidFill>
            <a:schemeClr val="bg2"/>
          </a:solidFill>
          <a:ln w="6350" cap="flat" cmpd="sng" algn="ctr">
            <a:noFill/>
            <a:prstDash val="solid"/>
          </a:ln>
          <a:effectLst>
            <a:softEdge rad="0"/>
          </a:effectLst>
        </p:spPr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13716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103120"/>
            <a:ext cx="10058400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9464" y="6214535"/>
            <a:ext cx="2743200" cy="2560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7E97AD98-B9C0-48D6-BE04-54ABC792AF9B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489960" y="6214535"/>
            <a:ext cx="5212080" cy="2560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14667" y="6214535"/>
            <a:ext cx="1463040" cy="2560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fld id="{A7303702-9955-4464-A08A-A3DD5AD00CD8}" type="slidenum">
              <a:rPr lang="en-US" smtClean="0"/>
              <a:t>‹N°›</a:t>
            </a:fld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371856" y="374904"/>
            <a:ext cx="11448288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</p:sp>
    </p:spTree>
    <p:extLst>
      <p:ext uri="{BB962C8B-B14F-4D97-AF65-F5344CB8AC3E}">
        <p14:creationId xmlns:p14="http://schemas.microsoft.com/office/powerpoint/2010/main" val="2820136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35" r:id="rId1"/>
    <p:sldLayoutId id="2147483836" r:id="rId2"/>
    <p:sldLayoutId id="2147483837" r:id="rId3"/>
    <p:sldLayoutId id="2147483838" r:id="rId4"/>
    <p:sldLayoutId id="2147483839" r:id="rId5"/>
    <p:sldLayoutId id="2147483840" r:id="rId6"/>
    <p:sldLayoutId id="2147483841" r:id="rId7"/>
    <p:sldLayoutId id="2147483842" r:id="rId8"/>
    <p:sldLayoutId id="2147483843" r:id="rId9"/>
    <p:sldLayoutId id="2147483844" r:id="rId10"/>
    <p:sldLayoutId id="214748384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4800" kern="1200" cap="none" spc="0" baseline="0" dirty="0"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n-ea"/>
          <a:cs typeface="+mn-cs"/>
        </a:defRPr>
      </a:lvl1pPr>
    </p:titleStyle>
    <p:bodyStyle>
      <a:lvl1pPr marL="182880" indent="-182880" algn="l" defTabSz="914400" rtl="0" eaLnBrk="1" latinLnBrk="0" hangingPunct="1">
        <a:lnSpc>
          <a:spcPct val="100000"/>
        </a:lnSpc>
        <a:spcBef>
          <a:spcPts val="900"/>
        </a:spcBef>
        <a:spcAft>
          <a:spcPts val="0"/>
        </a:spcAft>
        <a:buClr>
          <a:schemeClr val="tx2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100000"/>
        </a:lnSpc>
        <a:spcBef>
          <a:spcPts val="500"/>
        </a:spcBef>
        <a:buClr>
          <a:schemeClr val="tx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meiert.com/en/indices/html-elements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sylvainpolletvillard.github.io/html-finder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://codepen.io/sylvainpv/pen/GRdvgad?editors=1100" TargetMode="Externa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.mozilla.org/fr/docs/Web/CSS/Media_Queries/Using_media_queries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CSS/Guides/Containment/Container_queries" TargetMode="External"/><Relationship Id="rId2" Type="http://schemas.openxmlformats.org/officeDocument/2006/relationships/hyperlink" Target="https://caniuse.com/?search=container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onecake.syllab.fr/" TargetMode="Externa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hyperlink" Target="https://codepen.io/sylvainpv/pen/wvjemxe?editors=1100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CSS/CSS_animated_properties" TargetMode="External"/><Relationship Id="rId2" Type="http://schemas.openxmlformats.org/officeDocument/2006/relationships/hyperlink" Target="https://codepen.io/sylvainpv/pen/WNJErdg?editors=1100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hyperlink" Target="https://easings.net/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codepen.io/sylvainpv/pen/vYjZjJZ?editors=1100" TargetMode="External"/><Relationship Id="rId2" Type="http://schemas.openxmlformats.org/officeDocument/2006/relationships/hyperlink" Target="https://developer.mozilla.org/fr/docs/Web/SVG/Tutorial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hyperlink" Target="https://purgecss.com/" TargetMode="External"/><Relationship Id="rId7" Type="http://schemas.openxmlformats.org/officeDocument/2006/relationships/image" Target="../media/image24.png"/><Relationship Id="rId2" Type="http://schemas.openxmlformats.org/officeDocument/2006/relationships/hyperlink" Target="https://stylelint.io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hyperlink" Target="https://cssnano.co/" TargetMode="External"/><Relationship Id="rId4" Type="http://schemas.openxmlformats.org/officeDocument/2006/relationships/hyperlink" Target="https://autoprefixer.github.io/" TargetMode="External"/><Relationship Id="rId9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hyperlink" Target="https://stylus-lang.com/" TargetMode="External"/><Relationship Id="rId7" Type="http://schemas.openxmlformats.org/officeDocument/2006/relationships/image" Target="../media/image28.png"/><Relationship Id="rId2" Type="http://schemas.openxmlformats.org/officeDocument/2006/relationships/hyperlink" Target="https://sass-lang.com/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5" Type="http://schemas.openxmlformats.org/officeDocument/2006/relationships/hyperlink" Target="https://cssnext.github.io/" TargetMode="External"/><Relationship Id="rId4" Type="http://schemas.openxmlformats.org/officeDocument/2006/relationships/hyperlink" Target="https://postcss.org/" TargetMode="External"/><Relationship Id="rId9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sv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5.xml"/><Relationship Id="rId4" Type="http://schemas.openxmlformats.org/officeDocument/2006/relationships/hyperlink" Target="http://michelebertoli.github.io/css-in-js/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00000">
              <a:schemeClr val="accen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4C2415-B47E-476B-BE33-9F1CC647D1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/>
              <a:t>Formation HTML/CSS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15AE144-5818-4FAA-B6E5-81205D49E2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/>
              <a:t>Global </a:t>
            </a:r>
            <a:r>
              <a:rPr lang="fr-FR" err="1"/>
              <a:t>Resources</a:t>
            </a:r>
            <a:r>
              <a:rPr lang="fr-FR"/>
              <a:t> &amp; Support - Worldline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4321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83B481-9055-4609-93AD-826112E6F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642594"/>
            <a:ext cx="10058400" cy="729006"/>
          </a:xfrm>
        </p:spPr>
        <p:txBody>
          <a:bodyPr>
            <a:normAutofit fontScale="90000"/>
          </a:bodyPr>
          <a:lstStyle/>
          <a:p>
            <a:r>
              <a:rPr lang="fr-FR"/>
              <a:t>Agenda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419C35D-FF77-4FBA-95C8-A5E118DD0F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3312" y="1460501"/>
            <a:ext cx="10021888" cy="4603968"/>
          </a:xfrm>
        </p:spPr>
        <p:txBody>
          <a:bodyPr numCol="3">
            <a:normAutofit/>
          </a:bodyPr>
          <a:lstStyle/>
          <a:p>
            <a:r>
              <a:rPr lang="fr-FR"/>
              <a:t>HTML</a:t>
            </a:r>
          </a:p>
          <a:p>
            <a:pPr lvl="1"/>
            <a:r>
              <a:rPr lang="fr-FR"/>
              <a:t>Fondamentaux</a:t>
            </a:r>
          </a:p>
          <a:p>
            <a:pPr lvl="1"/>
            <a:r>
              <a:rPr lang="fr-FR"/>
              <a:t>Sémantique</a:t>
            </a:r>
          </a:p>
          <a:p>
            <a:pPr marL="457200" lvl="1" indent="0">
              <a:buNone/>
            </a:pPr>
            <a:endParaRPr lang="fr-FR"/>
          </a:p>
          <a:p>
            <a:r>
              <a:rPr lang="fr-FR"/>
              <a:t>CSS</a:t>
            </a:r>
          </a:p>
          <a:p>
            <a:pPr lvl="1"/>
            <a:r>
              <a:rPr lang="fr-FR"/>
              <a:t>Sélecteurs</a:t>
            </a:r>
          </a:p>
          <a:p>
            <a:pPr lvl="1"/>
            <a:r>
              <a:rPr lang="fr-FR"/>
              <a:t>Spécificité</a:t>
            </a:r>
          </a:p>
          <a:p>
            <a:pPr lvl="1"/>
            <a:r>
              <a:rPr lang="fr-FR"/>
              <a:t>Cascade</a:t>
            </a:r>
          </a:p>
          <a:p>
            <a:pPr lvl="1"/>
            <a:r>
              <a:rPr lang="fr-FR"/>
              <a:t>Héritage</a:t>
            </a:r>
          </a:p>
          <a:p>
            <a:pPr marL="274320" lvl="1" indent="0">
              <a:buNone/>
            </a:pPr>
            <a:endParaRPr lang="fr-FR"/>
          </a:p>
          <a:p>
            <a:pPr marL="274320" lvl="1" indent="0">
              <a:buNone/>
            </a:pPr>
            <a:endParaRPr lang="fr-FR"/>
          </a:p>
          <a:p>
            <a:pPr marL="274320" lvl="1" indent="0">
              <a:buNone/>
            </a:pPr>
            <a:endParaRPr lang="fr-FR"/>
          </a:p>
          <a:p>
            <a:pPr marL="274320" lvl="1" indent="0">
              <a:buNone/>
            </a:pPr>
            <a:endParaRPr lang="fr-FR"/>
          </a:p>
          <a:p>
            <a:pPr marL="274320" lvl="1" indent="0">
              <a:buNone/>
            </a:pPr>
            <a:endParaRPr lang="fr-FR"/>
          </a:p>
          <a:p>
            <a:r>
              <a:rPr lang="fr-FR"/>
              <a:t>Layout</a:t>
            </a:r>
          </a:p>
          <a:p>
            <a:pPr lvl="1"/>
            <a:r>
              <a:rPr lang="fr-FR"/>
              <a:t>Flux de contenu</a:t>
            </a:r>
          </a:p>
          <a:p>
            <a:pPr lvl="1"/>
            <a:r>
              <a:rPr lang="fr-FR"/>
              <a:t>Modèle de boîte</a:t>
            </a:r>
          </a:p>
          <a:p>
            <a:pPr lvl="1"/>
            <a:r>
              <a:rPr lang="fr-FR"/>
              <a:t>Positionnement</a:t>
            </a:r>
          </a:p>
          <a:p>
            <a:pPr lvl="1"/>
            <a:r>
              <a:rPr lang="fr-FR"/>
              <a:t>Dimensions et Unités</a:t>
            </a:r>
          </a:p>
          <a:p>
            <a:pPr lvl="1"/>
            <a:r>
              <a:rPr lang="fr-FR"/>
              <a:t>Inline &amp; Block</a:t>
            </a:r>
          </a:p>
          <a:p>
            <a:pPr lvl="1"/>
            <a:r>
              <a:rPr lang="fr-FR"/>
              <a:t>Flex</a:t>
            </a:r>
          </a:p>
          <a:p>
            <a:pPr lvl="1"/>
            <a:r>
              <a:rPr lang="fr-FR"/>
              <a:t>Grid</a:t>
            </a:r>
          </a:p>
          <a:p>
            <a:pPr lvl="1"/>
            <a:r>
              <a:rPr lang="fr-FR"/>
              <a:t>Media queries</a:t>
            </a:r>
          </a:p>
          <a:p>
            <a:pPr lvl="1"/>
            <a:r>
              <a:rPr lang="fr-FR"/>
              <a:t>Responsive Web Design</a:t>
            </a:r>
          </a:p>
          <a:p>
            <a:pPr marL="0" indent="0">
              <a:buNone/>
            </a:pPr>
            <a:endParaRPr lang="fr-FR"/>
          </a:p>
          <a:p>
            <a:pPr lvl="1"/>
            <a:endParaRPr lang="fr-FR"/>
          </a:p>
          <a:p>
            <a:pPr lvl="1"/>
            <a:endParaRPr lang="fr-FR"/>
          </a:p>
          <a:p>
            <a:pPr marL="274320" lvl="1" indent="0">
              <a:buNone/>
            </a:pPr>
            <a:endParaRPr lang="fr-FR"/>
          </a:p>
          <a:p>
            <a:r>
              <a:rPr lang="fr-FR"/>
              <a:t>Fonctionnalités</a:t>
            </a:r>
          </a:p>
          <a:p>
            <a:pPr lvl="1"/>
            <a:r>
              <a:rPr lang="fr-FR"/>
              <a:t>Typographie</a:t>
            </a:r>
          </a:p>
          <a:p>
            <a:pPr lvl="1"/>
            <a:r>
              <a:rPr lang="fr-FR"/>
              <a:t>Backgrounds &amp; Images</a:t>
            </a:r>
          </a:p>
          <a:p>
            <a:pPr lvl="1"/>
            <a:r>
              <a:rPr lang="fr-FR"/>
              <a:t>Interactions</a:t>
            </a:r>
          </a:p>
          <a:p>
            <a:pPr lvl="1"/>
            <a:r>
              <a:rPr lang="fr-FR"/>
              <a:t>Animations &amp; Transitions</a:t>
            </a:r>
          </a:p>
          <a:p>
            <a:pPr lvl="1"/>
            <a:r>
              <a:rPr lang="fr-FR"/>
              <a:t>Formes et dessin</a:t>
            </a:r>
          </a:p>
          <a:p>
            <a:pPr marL="274320" lvl="1" indent="0">
              <a:buNone/>
            </a:pPr>
            <a:endParaRPr lang="fr-FR"/>
          </a:p>
          <a:p>
            <a:r>
              <a:rPr lang="fr-FR"/>
              <a:t>Outillage</a:t>
            </a:r>
          </a:p>
          <a:p>
            <a:pPr lvl="1"/>
            <a:r>
              <a:rPr lang="fr-FR"/>
              <a:t>Utilitaires</a:t>
            </a:r>
          </a:p>
          <a:p>
            <a:pPr lvl="1"/>
            <a:r>
              <a:rPr lang="fr-FR"/>
              <a:t>Préprocesseurs</a:t>
            </a:r>
          </a:p>
          <a:p>
            <a:pPr lvl="1"/>
            <a:r>
              <a:rPr lang="fr-FR"/>
              <a:t>CSS in JS</a:t>
            </a:r>
          </a:p>
        </p:txBody>
      </p:sp>
    </p:spTree>
    <p:extLst>
      <p:ext uri="{BB962C8B-B14F-4D97-AF65-F5344CB8AC3E}">
        <p14:creationId xmlns:p14="http://schemas.microsoft.com/office/powerpoint/2010/main" val="8175403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FBEDC54-92C3-4DF5-972E-693B49DDBE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0206" y="761999"/>
            <a:ext cx="11267557" cy="970450"/>
          </a:xfrm>
        </p:spPr>
        <p:txBody>
          <a:bodyPr/>
          <a:lstStyle/>
          <a:p>
            <a:r>
              <a:rPr lang="fr-FR"/>
              <a:t>Les fondamentaux de HTML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1996E90-F091-4FAD-B0C9-ED4C14C00C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716477"/>
          </a:xfrm>
        </p:spPr>
        <p:txBody>
          <a:bodyPr>
            <a:normAutofit/>
          </a:bodyPr>
          <a:lstStyle/>
          <a:p>
            <a:r>
              <a:rPr lang="fr-FR" sz="2400"/>
              <a:t>HTML (HyperText Markup </a:t>
            </a:r>
            <a:r>
              <a:rPr lang="fr-FR" sz="2400" err="1"/>
              <a:t>Language</a:t>
            </a:r>
            <a:r>
              <a:rPr lang="fr-FR" sz="2400"/>
              <a:t>) décrit le contenu de pages web sous forme de </a:t>
            </a:r>
            <a:r>
              <a:rPr lang="fr-FR" sz="2400" b="1"/>
              <a:t>balises</a:t>
            </a:r>
            <a:r>
              <a:rPr lang="fr-FR" sz="2400"/>
              <a:t> imbriquées dans une </a:t>
            </a:r>
            <a:r>
              <a:rPr lang="fr-FR" sz="2400" b="1"/>
              <a:t>structure d’arbre</a:t>
            </a:r>
          </a:p>
          <a:p>
            <a:endParaRPr lang="fr-FR" sz="2800" b="1"/>
          </a:p>
          <a:p>
            <a:endParaRPr lang="fr-FR" sz="2800" b="1"/>
          </a:p>
          <a:p>
            <a:endParaRPr lang="fr-FR" sz="2800" b="1"/>
          </a:p>
          <a:p>
            <a:endParaRPr lang="fr-FR" sz="2800" b="1"/>
          </a:p>
          <a:p>
            <a:r>
              <a:rPr lang="fr-FR" sz="2400"/>
              <a:t>Il existe un ensemble de balises standardisées avec chacune leur cas d’utilisation (</a:t>
            </a:r>
            <a:r>
              <a:rPr lang="fr-FR" sz="2400">
                <a:hlinkClick r:id="rId2"/>
              </a:rPr>
              <a:t>autour de 130 tags différents selon la spécification</a:t>
            </a:r>
            <a:r>
              <a:rPr lang="fr-FR" sz="2400"/>
              <a:t>)</a:t>
            </a:r>
          </a:p>
          <a:p>
            <a:endParaRPr lang="fr-FR" sz="2800"/>
          </a:p>
        </p:txBody>
      </p:sp>
      <p:pic>
        <p:nvPicPr>
          <p:cNvPr id="1026" name="Picture 2" descr="Élément - Glossaire MDN : définitions des termes du Web | MDN">
            <a:extLst>
              <a:ext uri="{FF2B5EF4-FFF2-40B4-BE49-F238E27FC236}">
                <a16:creationId xmlns:a16="http://schemas.microsoft.com/office/drawing/2014/main" id="{2F0CDF07-AFE3-4C29-B511-B0BCD21589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0313" y="2792423"/>
            <a:ext cx="5800725" cy="1724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Flèche : droite 4">
            <a:hlinkClick r:id="rId4"/>
            <a:extLst>
              <a:ext uri="{FF2B5EF4-FFF2-40B4-BE49-F238E27FC236}">
                <a16:creationId xmlns:a16="http://schemas.microsoft.com/office/drawing/2014/main" id="{98572F4E-A874-4701-B006-C4E5BE1F7931}"/>
              </a:ext>
            </a:extLst>
          </p:cNvPr>
          <p:cNvSpPr/>
          <p:nvPr/>
        </p:nvSpPr>
        <p:spPr>
          <a:xfrm>
            <a:off x="6959600" y="6146800"/>
            <a:ext cx="5232401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Combien de tags connaissez-vous ?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362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6D9DE68-9CA6-4EAB-B58C-88FFE724A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HTML et Sémantique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3FAA89A-A035-4FF8-A556-F251364EFD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50"/>
            <a:ext cx="10353762" cy="528150"/>
          </a:xfrm>
        </p:spPr>
        <p:txBody>
          <a:bodyPr/>
          <a:lstStyle/>
          <a:p>
            <a:r>
              <a:rPr lang="fr-FR"/>
              <a:t>Choisir les bons tags HTML pour décrire votre contenu est important pour:</a:t>
            </a:r>
          </a:p>
          <a:p>
            <a:pPr marL="450000" lvl="1" indent="0">
              <a:buNone/>
            </a:pPr>
            <a:endParaRPr lang="fr-FR"/>
          </a:p>
        </p:txBody>
      </p:sp>
      <p:pic>
        <p:nvPicPr>
          <p:cNvPr id="2050" name="Picture 2" descr="6 input form types that will make your mobile visitors ❤️ you!">
            <a:extLst>
              <a:ext uri="{FF2B5EF4-FFF2-40B4-BE49-F238E27FC236}">
                <a16:creationId xmlns:a16="http://schemas.microsoft.com/office/drawing/2014/main" id="{E2F4112A-178B-4B3E-BAED-E0B8B4A6D3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54339" y="2915652"/>
            <a:ext cx="2439403" cy="24394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155AE330-4E7A-4BAC-8C17-61BFE5078AB2}"/>
              </a:ext>
            </a:extLst>
          </p:cNvPr>
          <p:cNvSpPr txBox="1">
            <a:spLocks/>
          </p:cNvSpPr>
          <p:nvPr/>
        </p:nvSpPr>
        <p:spPr>
          <a:xfrm>
            <a:off x="1002027" y="2306003"/>
            <a:ext cx="3325331" cy="33970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450000" lvl="1" indent="0" algn="ctr">
              <a:buFont typeface="Wingdings 2" charset="2"/>
              <a:buNone/>
            </a:pPr>
            <a:r>
              <a:rPr lang="fr-FR" b="1"/>
              <a:t>L’expérience utilisateur</a:t>
            </a:r>
          </a:p>
        </p:txBody>
      </p:sp>
      <p:sp>
        <p:nvSpPr>
          <p:cNvPr id="7" name="Espace réservé du contenu 2">
            <a:extLst>
              <a:ext uri="{FF2B5EF4-FFF2-40B4-BE49-F238E27FC236}">
                <a16:creationId xmlns:a16="http://schemas.microsoft.com/office/drawing/2014/main" id="{9D394A47-7495-4EC4-9693-E5684BF52F61}"/>
              </a:ext>
            </a:extLst>
          </p:cNvPr>
          <p:cNvSpPr txBox="1">
            <a:spLocks/>
          </p:cNvSpPr>
          <p:nvPr/>
        </p:nvSpPr>
        <p:spPr>
          <a:xfrm>
            <a:off x="4415589" y="2306003"/>
            <a:ext cx="3325331" cy="33970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450000" lvl="1" indent="0" algn="ctr">
              <a:buNone/>
            </a:pPr>
            <a:r>
              <a:rPr lang="fr-FR" b="1"/>
              <a:t>L’accessibilité</a:t>
            </a:r>
          </a:p>
        </p:txBody>
      </p:sp>
      <p:sp>
        <p:nvSpPr>
          <p:cNvPr id="8" name="Espace réservé du contenu 2">
            <a:extLst>
              <a:ext uri="{FF2B5EF4-FFF2-40B4-BE49-F238E27FC236}">
                <a16:creationId xmlns:a16="http://schemas.microsoft.com/office/drawing/2014/main" id="{5171834B-B21D-46E1-B57A-FB29056CBB63}"/>
              </a:ext>
            </a:extLst>
          </p:cNvPr>
          <p:cNvSpPr txBox="1">
            <a:spLocks/>
          </p:cNvSpPr>
          <p:nvPr/>
        </p:nvSpPr>
        <p:spPr>
          <a:xfrm>
            <a:off x="7740920" y="2306002"/>
            <a:ext cx="3325331" cy="33970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450000" lvl="1" indent="0" algn="ctr">
              <a:buFont typeface="Wingdings 2" charset="2"/>
              <a:buNone/>
            </a:pPr>
            <a:r>
              <a:rPr lang="fr-FR" b="1"/>
              <a:t>L’</a:t>
            </a:r>
            <a:r>
              <a:rPr lang="fr-FR" b="1" err="1"/>
              <a:t>indexabilité</a:t>
            </a:r>
            <a:endParaRPr lang="fr-FR" b="1"/>
          </a:p>
        </p:txBody>
      </p:sp>
      <p:grpSp>
        <p:nvGrpSpPr>
          <p:cNvPr id="15" name="Groupe 14">
            <a:extLst>
              <a:ext uri="{FF2B5EF4-FFF2-40B4-BE49-F238E27FC236}">
                <a16:creationId xmlns:a16="http://schemas.microsoft.com/office/drawing/2014/main" id="{C2A28330-66A4-48BD-B570-F1E5ACCAE11B}"/>
              </a:ext>
            </a:extLst>
          </p:cNvPr>
          <p:cNvGrpSpPr/>
          <p:nvPr/>
        </p:nvGrpSpPr>
        <p:grpSpPr>
          <a:xfrm>
            <a:off x="4327358" y="2915652"/>
            <a:ext cx="3737264" cy="2497251"/>
            <a:chOff x="4327358" y="2915652"/>
            <a:chExt cx="3737264" cy="2497251"/>
          </a:xfrm>
        </p:grpSpPr>
        <p:pic>
          <p:nvPicPr>
            <p:cNvPr id="9" name="Image 8">
              <a:extLst>
                <a:ext uri="{FF2B5EF4-FFF2-40B4-BE49-F238E27FC236}">
                  <a16:creationId xmlns:a16="http://schemas.microsoft.com/office/drawing/2014/main" id="{1AF867DC-D5E9-4E5E-9001-64F22C727D7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27358" y="2915652"/>
              <a:ext cx="3737264" cy="2497251"/>
            </a:xfrm>
            <a:prstGeom prst="rect">
              <a:avLst/>
            </a:prstGeom>
          </p:spPr>
        </p:pic>
        <p:pic>
          <p:nvPicPr>
            <p:cNvPr id="10" name="Image 9">
              <a:extLst>
                <a:ext uri="{FF2B5EF4-FFF2-40B4-BE49-F238E27FC236}">
                  <a16:creationId xmlns:a16="http://schemas.microsoft.com/office/drawing/2014/main" id="{59372671-73C5-4B33-8C08-B9EE0AC07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414119" y="4769700"/>
              <a:ext cx="2360874" cy="643203"/>
            </a:xfrm>
            <a:prstGeom prst="rect">
              <a:avLst/>
            </a:prstGeom>
          </p:spPr>
        </p:pic>
      </p:grpSp>
      <p:sp>
        <p:nvSpPr>
          <p:cNvPr id="11" name="Flèche : droite 10">
            <a:extLst>
              <a:ext uri="{FF2B5EF4-FFF2-40B4-BE49-F238E27FC236}">
                <a16:creationId xmlns:a16="http://schemas.microsoft.com/office/drawing/2014/main" id="{A4FE0020-8979-4337-B571-5451379B3880}"/>
              </a:ext>
            </a:extLst>
          </p:cNvPr>
          <p:cNvSpPr/>
          <p:nvPr/>
        </p:nvSpPr>
        <p:spPr>
          <a:xfrm>
            <a:off x="6959600" y="6146800"/>
            <a:ext cx="5232401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Exercices: Chapitrer 1 – HTML </a:t>
            </a:r>
            <a:r>
              <a:rPr lang="fr-FR" err="1"/>
              <a:t>Semantics</a:t>
            </a:r>
            <a:endParaRPr lang="en-US"/>
          </a:p>
        </p:txBody>
      </p:sp>
      <p:grpSp>
        <p:nvGrpSpPr>
          <p:cNvPr id="17" name="Groupe 16">
            <a:extLst>
              <a:ext uri="{FF2B5EF4-FFF2-40B4-BE49-F238E27FC236}">
                <a16:creationId xmlns:a16="http://schemas.microsoft.com/office/drawing/2014/main" id="{1705A2D8-B778-4BAD-8D0A-BCA037B99C84}"/>
              </a:ext>
            </a:extLst>
          </p:cNvPr>
          <p:cNvGrpSpPr/>
          <p:nvPr/>
        </p:nvGrpSpPr>
        <p:grpSpPr>
          <a:xfrm>
            <a:off x="8298237" y="2699752"/>
            <a:ext cx="3562848" cy="2989239"/>
            <a:chOff x="8298237" y="2699752"/>
            <a:chExt cx="3562848" cy="2989239"/>
          </a:xfrm>
        </p:grpSpPr>
        <p:sp>
          <p:nvSpPr>
            <p:cNvPr id="13" name="ZoneTexte 12">
              <a:extLst>
                <a:ext uri="{FF2B5EF4-FFF2-40B4-BE49-F238E27FC236}">
                  <a16:creationId xmlns:a16="http://schemas.microsoft.com/office/drawing/2014/main" id="{4076CDB2-EBA4-4B84-AF72-0D0FBA641CF3}"/>
                </a:ext>
              </a:extLst>
            </p:cNvPr>
            <p:cNvSpPr txBox="1"/>
            <p:nvPr/>
          </p:nvSpPr>
          <p:spPr>
            <a:xfrm>
              <a:off x="8298237" y="2699752"/>
              <a:ext cx="3562847" cy="1107996"/>
            </a:xfrm>
            <a:prstGeom prst="rect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r>
                <a:rPr lang="en-US" sz="1100">
                  <a:solidFill>
                    <a:srgbClr val="9EFFFF"/>
                  </a:solidFill>
                  <a:latin typeface="Consolas" panose="020B0609020204030204" pitchFamily="49" charset="0"/>
                </a:rPr>
                <a:t>&lt;p&gt;</a:t>
              </a:r>
              <a:r>
                <a:rPr lang="en-US" sz="1100">
                  <a:solidFill>
                    <a:srgbClr val="FFFFFF"/>
                  </a:solidFill>
                  <a:latin typeface="Consolas" panose="020B0609020204030204" pitchFamily="49" charset="0"/>
                </a:rPr>
                <a:t>We are open from </a:t>
              </a:r>
              <a:r>
                <a:rPr lang="en-US" sz="1100">
                  <a:solidFill>
                    <a:srgbClr val="9EFFFF"/>
                  </a:solidFill>
                  <a:latin typeface="Consolas" panose="020B0609020204030204" pitchFamily="49" charset="0"/>
                </a:rPr>
                <a:t>&lt;time </a:t>
              </a:r>
              <a:r>
                <a:rPr lang="en-US" sz="1100" i="1">
                  <a:solidFill>
                    <a:srgbClr val="FAD000"/>
                  </a:solidFill>
                  <a:latin typeface="Consolas" panose="020B0609020204030204" pitchFamily="49" charset="0"/>
                </a:rPr>
                <a:t>datetime</a:t>
              </a:r>
              <a:r>
                <a:rPr lang="en-US" sz="1100">
                  <a:solidFill>
                    <a:srgbClr val="E1EFFF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1100">
                  <a:solidFill>
                    <a:srgbClr val="92FC79"/>
                  </a:solidFill>
                  <a:latin typeface="Consolas" panose="020B0609020204030204" pitchFamily="49" charset="0"/>
                </a:rPr>
                <a:t>"</a:t>
              </a:r>
              <a:r>
                <a:rPr lang="en-US" sz="1100">
                  <a:solidFill>
                    <a:srgbClr val="A5FF90"/>
                  </a:solidFill>
                  <a:latin typeface="Consolas" panose="020B0609020204030204" pitchFamily="49" charset="0"/>
                </a:rPr>
                <a:t>09:00</a:t>
              </a:r>
              <a:r>
                <a:rPr lang="en-US" sz="1100">
                  <a:solidFill>
                    <a:srgbClr val="92FC79"/>
                  </a:solidFill>
                  <a:latin typeface="Consolas" panose="020B0609020204030204" pitchFamily="49" charset="0"/>
                </a:rPr>
                <a:t>"</a:t>
              </a:r>
              <a:r>
                <a:rPr lang="en-US" sz="1100">
                  <a:solidFill>
                    <a:srgbClr val="9EFFFF"/>
                  </a:solidFill>
                  <a:latin typeface="Consolas" panose="020B0609020204030204" pitchFamily="49" charset="0"/>
                </a:rPr>
                <a:t>&gt;</a:t>
              </a:r>
              <a:r>
                <a:rPr lang="en-US" sz="1100">
                  <a:solidFill>
                    <a:srgbClr val="FFFFFF"/>
                  </a:solidFill>
                  <a:latin typeface="Consolas" panose="020B0609020204030204" pitchFamily="49" charset="0"/>
                </a:rPr>
                <a:t>9 </a:t>
              </a:r>
              <a:r>
                <a:rPr lang="en-US" sz="1100" err="1">
                  <a:solidFill>
                    <a:srgbClr val="FFFFFF"/>
                  </a:solidFill>
                  <a:latin typeface="Consolas" panose="020B0609020204030204" pitchFamily="49" charset="0"/>
                </a:rPr>
                <a:t>a.m</a:t>
              </a:r>
              <a:r>
                <a:rPr lang="en-US" sz="1100">
                  <a:solidFill>
                    <a:srgbClr val="9EFFFF"/>
                  </a:solidFill>
                  <a:latin typeface="Consolas" panose="020B0609020204030204" pitchFamily="49" charset="0"/>
                </a:rPr>
                <a:t>&lt;/time&gt;</a:t>
              </a:r>
              <a:r>
                <a:rPr lang="en-US" sz="1100">
                  <a:solidFill>
                    <a:srgbClr val="FFFFFF"/>
                  </a:solidFill>
                  <a:latin typeface="Consolas" panose="020B0609020204030204" pitchFamily="49" charset="0"/>
                </a:rPr>
                <a:t> to </a:t>
              </a:r>
              <a:r>
                <a:rPr lang="en-US" sz="1100">
                  <a:solidFill>
                    <a:srgbClr val="9EFFFF"/>
                  </a:solidFill>
                  <a:latin typeface="Consolas" panose="020B0609020204030204" pitchFamily="49" charset="0"/>
                </a:rPr>
                <a:t>&lt;time </a:t>
              </a:r>
              <a:r>
                <a:rPr lang="en-US" sz="1100" i="1">
                  <a:solidFill>
                    <a:srgbClr val="FAD000"/>
                  </a:solidFill>
                  <a:latin typeface="Consolas" panose="020B0609020204030204" pitchFamily="49" charset="0"/>
                </a:rPr>
                <a:t>datetime</a:t>
              </a:r>
              <a:r>
                <a:rPr lang="en-US" sz="1100">
                  <a:solidFill>
                    <a:srgbClr val="E1EFFF"/>
                  </a:solidFill>
                  <a:latin typeface="Consolas" panose="020B0609020204030204" pitchFamily="49" charset="0"/>
                </a:rPr>
                <a:t>=</a:t>
              </a:r>
              <a:r>
                <a:rPr lang="en-US" sz="1100">
                  <a:solidFill>
                    <a:srgbClr val="92FC79"/>
                  </a:solidFill>
                  <a:latin typeface="Consolas" panose="020B0609020204030204" pitchFamily="49" charset="0"/>
                </a:rPr>
                <a:t>"</a:t>
              </a:r>
              <a:r>
                <a:rPr lang="en-US" sz="1100">
                  <a:solidFill>
                    <a:srgbClr val="A5FF90"/>
                  </a:solidFill>
                  <a:latin typeface="Consolas" panose="020B0609020204030204" pitchFamily="49" charset="0"/>
                </a:rPr>
                <a:t>17:30</a:t>
              </a:r>
              <a:r>
                <a:rPr lang="en-US" sz="1100">
                  <a:solidFill>
                    <a:srgbClr val="92FC79"/>
                  </a:solidFill>
                  <a:latin typeface="Consolas" panose="020B0609020204030204" pitchFamily="49" charset="0"/>
                </a:rPr>
                <a:t>"</a:t>
              </a:r>
              <a:r>
                <a:rPr lang="en-US" sz="1100">
                  <a:solidFill>
                    <a:srgbClr val="9EFFFF"/>
                  </a:solidFill>
                  <a:latin typeface="Consolas" panose="020B0609020204030204" pitchFamily="49" charset="0"/>
                </a:rPr>
                <a:t>&gt;</a:t>
              </a:r>
              <a:r>
                <a:rPr lang="en-US" sz="1100">
                  <a:solidFill>
                    <a:srgbClr val="FFFFFF"/>
                  </a:solidFill>
                  <a:latin typeface="Consolas" panose="020B0609020204030204" pitchFamily="49" charset="0"/>
                </a:rPr>
                <a:t>5:30 p.m.</a:t>
              </a:r>
              <a:r>
                <a:rPr lang="en-US" sz="1100">
                  <a:solidFill>
                    <a:srgbClr val="9EFFFF"/>
                  </a:solidFill>
                  <a:latin typeface="Consolas" panose="020B0609020204030204" pitchFamily="49" charset="0"/>
                </a:rPr>
                <a:t>&lt;/time&gt;&lt;/p&gt;</a:t>
              </a:r>
              <a:endParaRPr lang="en-US" sz="1100">
                <a:solidFill>
                  <a:srgbClr val="FFFFFF"/>
                </a:solidFill>
                <a:latin typeface="Consolas" panose="020B0609020204030204" pitchFamily="49" charset="0"/>
              </a:endParaRPr>
            </a:p>
            <a:p>
              <a:r>
                <a:rPr lang="en-US" sz="1100">
                  <a:solidFill>
                    <a:srgbClr val="9EFFFF"/>
                  </a:solidFill>
                  <a:latin typeface="Consolas" panose="020B0609020204030204" pitchFamily="49" charset="0"/>
                </a:rPr>
                <a:t>&lt;address&gt;</a:t>
              </a:r>
              <a:r>
                <a:rPr lang="en-US" sz="1100">
                  <a:solidFill>
                    <a:srgbClr val="FFFFFF"/>
                  </a:solidFill>
                  <a:latin typeface="Consolas" panose="020B0609020204030204" pitchFamily="49" charset="0"/>
                </a:rPr>
                <a:t>24 Gloucester Red, South </a:t>
              </a:r>
              <a:r>
                <a:rPr lang="en-US" sz="1100" err="1">
                  <a:solidFill>
                    <a:srgbClr val="FFFFFF"/>
                  </a:solidFill>
                  <a:latin typeface="Consolas" panose="020B0609020204030204" pitchFamily="49" charset="0"/>
                </a:rPr>
                <a:t>Kensighton</a:t>
              </a:r>
              <a:r>
                <a:rPr lang="en-US" sz="1100">
                  <a:solidFill>
                    <a:srgbClr val="FFFFFF"/>
                  </a:solidFill>
                  <a:latin typeface="Consolas" panose="020B0609020204030204" pitchFamily="49" charset="0"/>
                </a:rPr>
                <a:t>, London SW7 4RB, United Kingdom</a:t>
              </a:r>
              <a:r>
                <a:rPr lang="en-US" sz="1100">
                  <a:solidFill>
                    <a:srgbClr val="9EFFFF"/>
                  </a:solidFill>
                  <a:latin typeface="Consolas" panose="020B0609020204030204" pitchFamily="49" charset="0"/>
                </a:rPr>
                <a:t>&lt;/address&gt;</a:t>
              </a:r>
              <a:endParaRPr lang="en-US" sz="1100">
                <a:solidFill>
                  <a:srgbClr val="FFFFFF"/>
                </a:solidFill>
                <a:latin typeface="Consolas" panose="020B0609020204030204" pitchFamily="49" charset="0"/>
              </a:endParaRPr>
            </a:p>
          </p:txBody>
        </p:sp>
        <p:grpSp>
          <p:nvGrpSpPr>
            <p:cNvPr id="16" name="Groupe 15">
              <a:extLst>
                <a:ext uri="{FF2B5EF4-FFF2-40B4-BE49-F238E27FC236}">
                  <a16:creationId xmlns:a16="http://schemas.microsoft.com/office/drawing/2014/main" id="{A1290FB4-4F76-4A86-94B6-2A90B24D8F1D}"/>
                </a:ext>
              </a:extLst>
            </p:cNvPr>
            <p:cNvGrpSpPr/>
            <p:nvPr/>
          </p:nvGrpSpPr>
          <p:grpSpPr>
            <a:xfrm>
              <a:off x="8298238" y="3722052"/>
              <a:ext cx="3562847" cy="1966939"/>
              <a:chOff x="8298238" y="3722052"/>
              <a:chExt cx="3562847" cy="1966939"/>
            </a:xfrm>
          </p:grpSpPr>
          <p:pic>
            <p:nvPicPr>
              <p:cNvPr id="12" name="Image 11">
                <a:extLst>
                  <a:ext uri="{FF2B5EF4-FFF2-40B4-BE49-F238E27FC236}">
                    <a16:creationId xmlns:a16="http://schemas.microsoft.com/office/drawing/2014/main" id="{E294F092-80F6-4FF5-8096-602BF546C7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298238" y="3850409"/>
                <a:ext cx="3562847" cy="1838582"/>
              </a:xfrm>
              <a:prstGeom prst="rect">
                <a:avLst/>
              </a:prstGeom>
            </p:spPr>
          </p:pic>
          <p:sp>
            <p:nvSpPr>
              <p:cNvPr id="14" name="Flèche : bas 13">
                <a:extLst>
                  <a:ext uri="{FF2B5EF4-FFF2-40B4-BE49-F238E27FC236}">
                    <a16:creationId xmlns:a16="http://schemas.microsoft.com/office/drawing/2014/main" id="{3F7D989B-DB1E-4311-B420-A4214C837775}"/>
                  </a:ext>
                </a:extLst>
              </p:cNvPr>
              <p:cNvSpPr/>
              <p:nvPr/>
            </p:nvSpPr>
            <p:spPr>
              <a:xfrm>
                <a:off x="9927260" y="3722052"/>
                <a:ext cx="347040" cy="1205398"/>
              </a:xfrm>
              <a:prstGeom prst="downArrow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2309054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11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E9C89A-6272-4F06-93C7-20FCFF638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Les fondamentaux de CSS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B45966-E913-4A63-BAA5-D611B4F8B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CSS (</a:t>
            </a:r>
            <a:r>
              <a:rPr lang="fr-FR" b="1" err="1"/>
              <a:t>Cascading</a:t>
            </a:r>
            <a:r>
              <a:rPr lang="fr-FR" b="1"/>
              <a:t> </a:t>
            </a:r>
            <a:r>
              <a:rPr lang="fr-FR" b="1" err="1"/>
              <a:t>StyleSheets</a:t>
            </a:r>
            <a:r>
              <a:rPr lang="fr-FR"/>
              <a:t>) décrit les propriétés de style à associer aux éléments d’un document HTML</a:t>
            </a:r>
          </a:p>
          <a:p>
            <a:r>
              <a:rPr lang="fr-FR"/>
              <a:t>Ces associations sont faites par le biais de </a:t>
            </a:r>
            <a:r>
              <a:rPr lang="fr-FR" b="1"/>
              <a:t>sélecteurs</a:t>
            </a:r>
            <a:r>
              <a:rPr lang="fr-FR"/>
              <a:t>. A chaque sélecteur est associé une série de </a:t>
            </a:r>
            <a:r>
              <a:rPr lang="fr-FR" b="1"/>
              <a:t>propriétés</a:t>
            </a:r>
            <a:r>
              <a:rPr lang="fr-FR"/>
              <a:t> et de </a:t>
            </a:r>
            <a:r>
              <a:rPr lang="fr-FR" b="1"/>
              <a:t>valeurs</a:t>
            </a:r>
            <a:endParaRPr lang="en-US" b="1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84F7CCF-A40C-48F6-8F7A-918E9EDFD657}"/>
              </a:ext>
            </a:extLst>
          </p:cNvPr>
          <p:cNvSpPr txBox="1"/>
          <p:nvPr/>
        </p:nvSpPr>
        <p:spPr>
          <a:xfrm>
            <a:off x="4844716" y="3841528"/>
            <a:ext cx="2502568" cy="203132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fr-FR">
                <a:highlight>
                  <a:srgbClr val="008000"/>
                </a:highlight>
              </a:rPr>
              <a:t>p</a:t>
            </a:r>
            <a:r>
              <a:rPr lang="fr-FR"/>
              <a:t> {</a:t>
            </a:r>
          </a:p>
          <a:p>
            <a:r>
              <a:rPr lang="fr-FR"/>
              <a:t>     </a:t>
            </a:r>
            <a:r>
              <a:rPr lang="fr-FR">
                <a:highlight>
                  <a:srgbClr val="800080"/>
                </a:highlight>
              </a:rPr>
              <a:t>font-size:</a:t>
            </a:r>
            <a:r>
              <a:rPr lang="fr-FR"/>
              <a:t> </a:t>
            </a:r>
            <a:r>
              <a:rPr lang="fr-FR">
                <a:highlight>
                  <a:srgbClr val="800000"/>
                </a:highlight>
              </a:rPr>
              <a:t>12px;</a:t>
            </a:r>
          </a:p>
          <a:p>
            <a:r>
              <a:rPr lang="fr-FR"/>
              <a:t>}</a:t>
            </a:r>
          </a:p>
          <a:p>
            <a:endParaRPr lang="fr-FR"/>
          </a:p>
          <a:p>
            <a:r>
              <a:rPr lang="en-US">
                <a:highlight>
                  <a:srgbClr val="008000"/>
                </a:highlight>
              </a:rPr>
              <a:t>.important</a:t>
            </a:r>
            <a:r>
              <a:rPr lang="en-US"/>
              <a:t> {</a:t>
            </a:r>
          </a:p>
          <a:p>
            <a:r>
              <a:rPr lang="en-US"/>
              <a:t>     </a:t>
            </a:r>
            <a:r>
              <a:rPr lang="en-US">
                <a:highlight>
                  <a:srgbClr val="800080"/>
                </a:highlight>
              </a:rPr>
              <a:t>color:</a:t>
            </a:r>
            <a:r>
              <a:rPr lang="en-US"/>
              <a:t> </a:t>
            </a:r>
            <a:r>
              <a:rPr lang="en-US">
                <a:highlight>
                  <a:srgbClr val="800000"/>
                </a:highlight>
              </a:rPr>
              <a:t>red</a:t>
            </a:r>
            <a:r>
              <a:rPr lang="en-US"/>
              <a:t>;</a:t>
            </a:r>
          </a:p>
          <a:p>
            <a:r>
              <a:rPr lang="en-US"/>
              <a:t>}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11B14B0-311F-43C9-9D40-F6FD5220C709}"/>
              </a:ext>
            </a:extLst>
          </p:cNvPr>
          <p:cNvSpPr txBox="1"/>
          <p:nvPr/>
        </p:nvSpPr>
        <p:spPr>
          <a:xfrm>
            <a:off x="2267343" y="5103646"/>
            <a:ext cx="1213794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fr-FR">
                <a:highlight>
                  <a:srgbClr val="800080"/>
                </a:highlight>
              </a:rPr>
              <a:t>propriété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D76E8E82-F88A-41BC-8F13-296AB101DCD8}"/>
              </a:ext>
            </a:extLst>
          </p:cNvPr>
          <p:cNvSpPr txBox="1"/>
          <p:nvPr/>
        </p:nvSpPr>
        <p:spPr>
          <a:xfrm>
            <a:off x="2284801" y="3972516"/>
            <a:ext cx="1210588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fr-FR">
                <a:highlight>
                  <a:srgbClr val="008000"/>
                </a:highlight>
              </a:rPr>
              <a:t>sélecteur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D8F12AA-613D-4284-9347-61E72186EC79}"/>
              </a:ext>
            </a:extLst>
          </p:cNvPr>
          <p:cNvSpPr txBox="1"/>
          <p:nvPr/>
        </p:nvSpPr>
        <p:spPr>
          <a:xfrm>
            <a:off x="8710863" y="4554032"/>
            <a:ext cx="877163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fr-FR">
                <a:highlight>
                  <a:srgbClr val="800000"/>
                </a:highlight>
              </a:rPr>
              <a:t>valeur</a:t>
            </a:r>
            <a:endParaRPr lang="en-US">
              <a:highlight>
                <a:srgbClr val="800000"/>
              </a:highlight>
            </a:endParaRPr>
          </a:p>
        </p:txBody>
      </p:sp>
      <p:cxnSp>
        <p:nvCxnSpPr>
          <p:cNvPr id="9" name="Connecteur droit avec flèche 8">
            <a:extLst>
              <a:ext uri="{FF2B5EF4-FFF2-40B4-BE49-F238E27FC236}">
                <a16:creationId xmlns:a16="http://schemas.microsoft.com/office/drawing/2014/main" id="{FA7E6599-7FBD-429D-98C7-75BB154378A2}"/>
              </a:ext>
            </a:extLst>
          </p:cNvPr>
          <p:cNvCxnSpPr>
            <a:cxnSpLocks/>
            <a:stCxn id="6" idx="3"/>
          </p:cNvCxnSpPr>
          <p:nvPr/>
        </p:nvCxnSpPr>
        <p:spPr>
          <a:xfrm flipV="1">
            <a:off x="3495389" y="4018547"/>
            <a:ext cx="1443574" cy="1386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0" name="Connecteur droit avec flèche 9">
            <a:extLst>
              <a:ext uri="{FF2B5EF4-FFF2-40B4-BE49-F238E27FC236}">
                <a16:creationId xmlns:a16="http://schemas.microsoft.com/office/drawing/2014/main" id="{0E633E36-CAF7-4D47-AC1C-271BAB41F524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3495389" y="4157182"/>
            <a:ext cx="1443574" cy="9464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07A1120D-6C61-4A61-BB45-3EE98BD50705}"/>
              </a:ext>
            </a:extLst>
          </p:cNvPr>
          <p:cNvCxnSpPr>
            <a:stCxn id="7" idx="1"/>
          </p:cNvCxnSpPr>
          <p:nvPr/>
        </p:nvCxnSpPr>
        <p:spPr>
          <a:xfrm flipH="1" flipV="1">
            <a:off x="6858000" y="4341848"/>
            <a:ext cx="1852863" cy="3968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22AEE77C-E879-441F-AD3B-881920F2A4DA}"/>
              </a:ext>
            </a:extLst>
          </p:cNvPr>
          <p:cNvCxnSpPr>
            <a:stCxn id="7" idx="1"/>
          </p:cNvCxnSpPr>
          <p:nvPr/>
        </p:nvCxnSpPr>
        <p:spPr>
          <a:xfrm flipH="1">
            <a:off x="6310563" y="4738698"/>
            <a:ext cx="2400300" cy="630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888ECF2C-6567-412C-B944-E11B71E9850C}"/>
              </a:ext>
            </a:extLst>
          </p:cNvPr>
          <p:cNvCxnSpPr>
            <a:stCxn id="5" idx="3"/>
          </p:cNvCxnSpPr>
          <p:nvPr/>
        </p:nvCxnSpPr>
        <p:spPr>
          <a:xfrm flipV="1">
            <a:off x="3481137" y="4283242"/>
            <a:ext cx="1758616" cy="100507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7D3F8CAD-F3D1-4B25-A516-06B529A83B90}"/>
              </a:ext>
            </a:extLst>
          </p:cNvPr>
          <p:cNvCxnSpPr>
            <a:stCxn id="5" idx="3"/>
          </p:cNvCxnSpPr>
          <p:nvPr/>
        </p:nvCxnSpPr>
        <p:spPr>
          <a:xfrm>
            <a:off x="3481137" y="5288312"/>
            <a:ext cx="1758616" cy="807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Flèche : droite 22">
            <a:extLst>
              <a:ext uri="{FF2B5EF4-FFF2-40B4-BE49-F238E27FC236}">
                <a16:creationId xmlns:a16="http://schemas.microsoft.com/office/drawing/2014/main" id="{9AA18EF4-6E40-4294-9432-F5E12B410BC4}"/>
              </a:ext>
            </a:extLst>
          </p:cNvPr>
          <p:cNvSpPr/>
          <p:nvPr/>
        </p:nvSpPr>
        <p:spPr>
          <a:xfrm>
            <a:off x="6959600" y="6146800"/>
            <a:ext cx="5232401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Exercices: Chapitre 2 – CSS </a:t>
            </a:r>
            <a:r>
              <a:rPr lang="fr-FR" err="1"/>
              <a:t>Selectors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3368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E9C89A-6272-4F06-93C7-20FCFF6382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/>
              <a:t>Spécificité des sélecteurs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B45966-E913-4A63-BAA5-D611B4F8B0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Quand plusieurs sélecteurs associent des valeurs différentes d'une même propriété à un même élément, il faut déterminer quelle valeur choisir, autrement dit quel sélecteur a la priorité sur les autres.</a:t>
            </a:r>
          </a:p>
          <a:p>
            <a:r>
              <a:rPr lang="fr-FR"/>
              <a:t>Pour ce faire, on calcule le niveau de spécificité de chaque sélecteur. Plus il est spécifique, plus les valeurs associées seront prioritaires.</a:t>
            </a:r>
            <a:endParaRPr lang="en-US" b="1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84F7CCF-A40C-48F6-8F7A-918E9EDFD657}"/>
              </a:ext>
            </a:extLst>
          </p:cNvPr>
          <p:cNvSpPr txBox="1"/>
          <p:nvPr/>
        </p:nvSpPr>
        <p:spPr>
          <a:xfrm>
            <a:off x="1682707" y="3806628"/>
            <a:ext cx="2502568" cy="2031325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fr-FR">
                <a:highlight>
                  <a:srgbClr val="008000"/>
                </a:highlight>
              </a:rPr>
              <a:t>p</a:t>
            </a:r>
            <a:r>
              <a:rPr lang="fr-FR"/>
              <a:t> {</a:t>
            </a:r>
          </a:p>
          <a:p>
            <a:r>
              <a:rPr lang="fr-FR"/>
              <a:t>     </a:t>
            </a:r>
            <a:r>
              <a:rPr lang="fr-FR" err="1">
                <a:highlight>
                  <a:srgbClr val="800080"/>
                </a:highlight>
              </a:rPr>
              <a:t>color</a:t>
            </a:r>
            <a:r>
              <a:rPr lang="fr-FR">
                <a:highlight>
                  <a:srgbClr val="800080"/>
                </a:highlight>
              </a:rPr>
              <a:t>:</a:t>
            </a:r>
            <a:r>
              <a:rPr lang="fr-FR"/>
              <a:t> </a:t>
            </a:r>
            <a:r>
              <a:rPr lang="fr-FR" err="1">
                <a:highlight>
                  <a:srgbClr val="800000"/>
                </a:highlight>
              </a:rPr>
              <a:t>blue</a:t>
            </a:r>
            <a:r>
              <a:rPr lang="fr-FR">
                <a:highlight>
                  <a:srgbClr val="800000"/>
                </a:highlight>
              </a:rPr>
              <a:t>;</a:t>
            </a:r>
          </a:p>
          <a:p>
            <a:r>
              <a:rPr lang="fr-FR"/>
              <a:t>}</a:t>
            </a:r>
          </a:p>
          <a:p>
            <a:endParaRPr lang="fr-FR"/>
          </a:p>
          <a:p>
            <a:r>
              <a:rPr lang="en-US">
                <a:highlight>
                  <a:srgbClr val="008000"/>
                </a:highlight>
              </a:rPr>
              <a:t>.important</a:t>
            </a:r>
            <a:r>
              <a:rPr lang="en-US"/>
              <a:t> {</a:t>
            </a:r>
          </a:p>
          <a:p>
            <a:r>
              <a:rPr lang="en-US"/>
              <a:t>     </a:t>
            </a:r>
            <a:r>
              <a:rPr lang="en-US">
                <a:highlight>
                  <a:srgbClr val="800080"/>
                </a:highlight>
              </a:rPr>
              <a:t>color:</a:t>
            </a:r>
            <a:r>
              <a:rPr lang="en-US"/>
              <a:t> </a:t>
            </a:r>
            <a:r>
              <a:rPr lang="en-US">
                <a:highlight>
                  <a:srgbClr val="800000"/>
                </a:highlight>
              </a:rPr>
              <a:t>red</a:t>
            </a:r>
            <a:r>
              <a:rPr lang="en-US"/>
              <a:t>;</a:t>
            </a:r>
          </a:p>
          <a:p>
            <a:r>
              <a:rPr lang="en-US"/>
              <a:t>}</a:t>
            </a:r>
          </a:p>
        </p:txBody>
      </p:sp>
      <p:sp>
        <p:nvSpPr>
          <p:cNvPr id="23" name="Flèche : droite 22">
            <a:extLst>
              <a:ext uri="{FF2B5EF4-FFF2-40B4-BE49-F238E27FC236}">
                <a16:creationId xmlns:a16="http://schemas.microsoft.com/office/drawing/2014/main" id="{9AA18EF4-6E40-4294-9432-F5E12B410BC4}"/>
              </a:ext>
            </a:extLst>
          </p:cNvPr>
          <p:cNvSpPr/>
          <p:nvPr/>
        </p:nvSpPr>
        <p:spPr>
          <a:xfrm>
            <a:off x="6959600" y="6146800"/>
            <a:ext cx="5232401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Exercices: Chapitre 3 – </a:t>
            </a:r>
            <a:r>
              <a:rPr lang="fr-FR" err="1"/>
              <a:t>Specificity</a:t>
            </a:r>
            <a:endParaRPr lang="en-US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7576B7E-4148-4D66-99D5-84060687031D}"/>
              </a:ext>
            </a:extLst>
          </p:cNvPr>
          <p:cNvSpPr txBox="1"/>
          <p:nvPr/>
        </p:nvSpPr>
        <p:spPr>
          <a:xfrm>
            <a:off x="5363084" y="4252194"/>
            <a:ext cx="2643643" cy="92333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fr-FR"/>
              <a:t>&lt;p class="important"&gt;</a:t>
            </a:r>
          </a:p>
          <a:p>
            <a:r>
              <a:rPr lang="fr-FR"/>
              <a:t>Bleu ou rouge ?</a:t>
            </a:r>
          </a:p>
          <a:p>
            <a:r>
              <a:rPr lang="fr-FR"/>
              <a:t>&lt;/p&gt;</a:t>
            </a:r>
            <a:endParaRPr lang="en-US"/>
          </a:p>
        </p:txBody>
      </p:sp>
      <p:pic>
        <p:nvPicPr>
          <p:cNvPr id="11" name="Graphique 10" descr="Point d’interrogation">
            <a:extLst>
              <a:ext uri="{FF2B5EF4-FFF2-40B4-BE49-F238E27FC236}">
                <a16:creationId xmlns:a16="http://schemas.microsoft.com/office/drawing/2014/main" id="{8B73DB13-4A63-40A8-8BB5-D586CD7986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44675" y="4252194"/>
            <a:ext cx="914400" cy="914400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92C14A83-98A0-440E-816F-C9693497FC24}"/>
              </a:ext>
            </a:extLst>
          </p:cNvPr>
          <p:cNvSpPr txBox="1"/>
          <p:nvPr/>
        </p:nvSpPr>
        <p:spPr>
          <a:xfrm>
            <a:off x="5985711" y="5514787"/>
            <a:ext cx="5594684" cy="64633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marL="274320" lvl="1" indent="0">
              <a:buNone/>
            </a:pPr>
            <a:r>
              <a:rPr lang="en-US" b="1"/>
              <a:t>Choisir la bonne spécificité d'un sélecteur, c'est éviter de devoir en décrire un autre</a:t>
            </a:r>
          </a:p>
        </p:txBody>
      </p:sp>
    </p:spTree>
    <p:extLst>
      <p:ext uri="{BB962C8B-B14F-4D97-AF65-F5344CB8AC3E}">
        <p14:creationId xmlns:p14="http://schemas.microsoft.com/office/powerpoint/2010/main" val="20210428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8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DE9C89A-6272-4F06-93C7-20FCFF638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9450" y="727627"/>
            <a:ext cx="4957553" cy="1645920"/>
          </a:xfrm>
        </p:spPr>
        <p:txBody>
          <a:bodyPr>
            <a:normAutofit/>
          </a:bodyPr>
          <a:lstStyle/>
          <a:p>
            <a:r>
              <a:rPr lang="fr-FR"/>
              <a:t>Cascade</a:t>
            </a:r>
            <a:endParaRPr lang="en-US"/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3E31811C-41EF-40F3-AF5E-02A196A15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53" y="2295272"/>
            <a:ext cx="5312766" cy="2231361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B45966-E913-4A63-BAA5-D611B4F8B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9450" y="2295272"/>
            <a:ext cx="4957554" cy="3496120"/>
          </a:xfrm>
        </p:spPr>
        <p:txBody>
          <a:bodyPr>
            <a:normAutofit/>
          </a:bodyPr>
          <a:lstStyle/>
          <a:p>
            <a:r>
              <a:rPr lang="fr-FR"/>
              <a:t>Au-delà des sélecteurs, il existe un second niveau de spécificité qui lui dépend de </a:t>
            </a:r>
            <a:r>
              <a:rPr lang="fr-FR" b="1"/>
              <a:t>l'origine</a:t>
            </a:r>
            <a:r>
              <a:rPr lang="fr-FR"/>
              <a:t> de la feuille de styles</a:t>
            </a:r>
          </a:p>
          <a:p>
            <a:r>
              <a:rPr lang="en-US" err="1"/>
              <a:t>Cela</a:t>
            </a:r>
            <a:r>
              <a:rPr lang="en-US"/>
              <a:t> </a:t>
            </a:r>
            <a:r>
              <a:rPr lang="en-US" err="1"/>
              <a:t>permet</a:t>
            </a:r>
            <a:r>
              <a:rPr lang="en-US"/>
              <a:t> </a:t>
            </a:r>
            <a:r>
              <a:rPr lang="en-US" err="1"/>
              <a:t>d'appliquer</a:t>
            </a:r>
            <a:r>
              <a:rPr lang="en-US"/>
              <a:t> des </a:t>
            </a:r>
            <a:r>
              <a:rPr lang="en-US" err="1"/>
              <a:t>règles</a:t>
            </a:r>
            <a:r>
              <a:rPr lang="en-US"/>
              <a:t> de style </a:t>
            </a:r>
            <a:r>
              <a:rPr lang="en-US" err="1"/>
              <a:t>spécifiques</a:t>
            </a:r>
            <a:r>
              <a:rPr lang="en-US"/>
              <a:t> à </a:t>
            </a:r>
            <a:r>
              <a:rPr lang="en-US" err="1"/>
              <a:t>certains</a:t>
            </a:r>
            <a:r>
              <a:rPr lang="en-US"/>
              <a:t> </a:t>
            </a:r>
            <a:r>
              <a:rPr lang="en-US" err="1"/>
              <a:t>appareils</a:t>
            </a:r>
            <a:r>
              <a:rPr lang="en-US"/>
              <a:t> </a:t>
            </a:r>
            <a:r>
              <a:rPr lang="en-US" err="1"/>
              <a:t>ou</a:t>
            </a:r>
            <a:r>
              <a:rPr lang="en-US"/>
              <a:t> </a:t>
            </a:r>
            <a:r>
              <a:rPr lang="en-US" err="1"/>
              <a:t>contextes</a:t>
            </a:r>
            <a:r>
              <a:rPr lang="en-US"/>
              <a:t> (mobile, impression papier…): ce sont les </a:t>
            </a:r>
            <a:r>
              <a:rPr lang="en-US" b="1"/>
              <a:t>User Agent Styles</a:t>
            </a:r>
          </a:p>
          <a:p>
            <a:r>
              <a:rPr lang="en-US" err="1"/>
              <a:t>Cela</a:t>
            </a:r>
            <a:r>
              <a:rPr lang="en-US"/>
              <a:t> </a:t>
            </a:r>
            <a:r>
              <a:rPr lang="en-US" err="1"/>
              <a:t>permet</a:t>
            </a:r>
            <a:r>
              <a:rPr lang="en-US"/>
              <a:t> </a:t>
            </a:r>
            <a:r>
              <a:rPr lang="en-US" err="1"/>
              <a:t>aussi</a:t>
            </a:r>
            <a:r>
              <a:rPr lang="en-US"/>
              <a:t> aux </a:t>
            </a:r>
            <a:r>
              <a:rPr lang="en-US" err="1"/>
              <a:t>utilisateurs</a:t>
            </a:r>
            <a:r>
              <a:rPr lang="en-US"/>
              <a:t> de surcharger les styles des sites Web </a:t>
            </a:r>
            <a:r>
              <a:rPr lang="en-US" err="1"/>
              <a:t>qu'ils</a:t>
            </a:r>
            <a:r>
              <a:rPr lang="en-US"/>
              <a:t> visitent, ce qui est crucial pour l'accessibilité: ce sont les</a:t>
            </a:r>
            <a:r>
              <a:rPr lang="en-US" b="1"/>
              <a:t> User styles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6A05C3D-7365-49C4-B2A6-EC1149D2FF94}"/>
              </a:ext>
            </a:extLst>
          </p:cNvPr>
          <p:cNvSpPr txBox="1"/>
          <p:nvPr/>
        </p:nvSpPr>
        <p:spPr>
          <a:xfrm>
            <a:off x="782053" y="4868062"/>
            <a:ext cx="5594684" cy="92333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marL="274320" lvl="1" indent="0">
              <a:buNone/>
            </a:pPr>
            <a:r>
              <a:rPr lang="en-US" b="1"/>
              <a:t>La cascade est ce qui a permis historiquement aux sites Web de s'adapter à autant de supports et d'utilisateurs différents</a:t>
            </a:r>
          </a:p>
        </p:txBody>
      </p:sp>
    </p:spTree>
    <p:extLst>
      <p:ext uri="{BB962C8B-B14F-4D97-AF65-F5344CB8AC3E}">
        <p14:creationId xmlns:p14="http://schemas.microsoft.com/office/powerpoint/2010/main" val="3919909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56DA41-B2A9-4194-A986-7E6869381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Héritage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53E5853-743C-45AA-B385-8A23489B8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10058400" cy="2740687"/>
          </a:xfrm>
        </p:spPr>
        <p:txBody>
          <a:bodyPr/>
          <a:lstStyle/>
          <a:p>
            <a:r>
              <a:rPr lang="fr-FR"/>
              <a:t>Certaines propriétés CSS sont héritées, c'est-à-dire qu'elles sont transmises aux éléments enfants:</a:t>
            </a:r>
            <a:r>
              <a:rPr lang="en-US"/>
              <a:t> la couleur et la police et taille du texte par exemple</a:t>
            </a:r>
          </a:p>
          <a:p>
            <a:r>
              <a:rPr lang="en-US"/>
              <a:t>L'heritage peut être contrôlé manuellement pour une propriété en lui mettant comme valeur:</a:t>
            </a:r>
          </a:p>
          <a:p>
            <a:pPr lvl="1"/>
            <a:r>
              <a:rPr lang="en-US" sz="1800" b="1">
                <a:latin typeface="Consolas" panose="020B0609020204030204" pitchFamily="49" charset="0"/>
              </a:rPr>
              <a:t>inherit</a:t>
            </a:r>
            <a:r>
              <a:rPr lang="en-US"/>
              <a:t> : prend la valeur définie dans l'élément parent</a:t>
            </a:r>
          </a:p>
          <a:p>
            <a:pPr lvl="1"/>
            <a:r>
              <a:rPr lang="en-US" sz="1800" b="1">
                <a:latin typeface="Consolas" panose="020B0609020204030204" pitchFamily="49" charset="0"/>
              </a:rPr>
              <a:t>initial</a:t>
            </a:r>
            <a:r>
              <a:rPr lang="en-US"/>
              <a:t>: prend la valeur initiale définie par défaut dans la specification CSS</a:t>
            </a:r>
          </a:p>
          <a:p>
            <a:pPr lvl="1"/>
            <a:r>
              <a:rPr lang="en-US" sz="1800" b="1">
                <a:latin typeface="Consolas" panose="020B0609020204030204" pitchFamily="49" charset="0"/>
              </a:rPr>
              <a:t>revert</a:t>
            </a:r>
            <a:r>
              <a:rPr lang="en-US"/>
              <a:t>: prend la valeur définie par défaut par le navigateur et les User Stylesheets</a:t>
            </a:r>
          </a:p>
          <a:p>
            <a:pPr lvl="1"/>
            <a:r>
              <a:rPr lang="en-US" sz="1800" b="1">
                <a:latin typeface="Consolas" panose="020B0609020204030204" pitchFamily="49" charset="0"/>
              </a:rPr>
              <a:t>unset</a:t>
            </a:r>
            <a:r>
              <a:rPr lang="en-US"/>
              <a:t>: revient au comportement par défaut, hérité ou pas selon la propriété</a:t>
            </a:r>
          </a:p>
          <a:p>
            <a:pPr marL="274320" lvl="1" indent="0">
              <a:buNone/>
            </a:pPr>
            <a:endParaRPr lang="en-US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9BF1272F-0E06-44A2-A6FB-25CCAD9D42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7348" y="4972429"/>
            <a:ext cx="3231117" cy="1511948"/>
          </a:xfrm>
          <a:prstGeom prst="rect">
            <a:avLst/>
          </a:prstGeom>
        </p:spPr>
      </p:pic>
      <p:sp>
        <p:nvSpPr>
          <p:cNvPr id="5" name="ZoneTexte 4">
            <a:extLst>
              <a:ext uri="{FF2B5EF4-FFF2-40B4-BE49-F238E27FC236}">
                <a16:creationId xmlns:a16="http://schemas.microsoft.com/office/drawing/2014/main" id="{EDFE9227-9BDE-4B5E-B005-5D9B3843ADF2}"/>
              </a:ext>
            </a:extLst>
          </p:cNvPr>
          <p:cNvSpPr txBox="1"/>
          <p:nvPr/>
        </p:nvSpPr>
        <p:spPr>
          <a:xfrm>
            <a:off x="1191127" y="5266738"/>
            <a:ext cx="6677526" cy="92333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marL="274320" lvl="1" indent="0">
              <a:buNone/>
            </a:pPr>
            <a:r>
              <a:rPr lang="en-US" b="1"/>
              <a:t>Les styles des User agent et des utilisateurs sont utiles !</a:t>
            </a:r>
          </a:p>
          <a:p>
            <a:pPr marL="274320" lvl="1" indent="0">
              <a:buNone/>
            </a:pPr>
            <a:r>
              <a:rPr lang="en-US" b="1"/>
              <a:t>Ne cherchez pas à tout surcharger pour tout controler </a:t>
            </a:r>
            <a:br>
              <a:rPr lang="en-US" b="1"/>
            </a:br>
            <a:r>
              <a:rPr lang="en-US" b="1"/>
              <a:t>et avoir un résultat uniforme partout.</a:t>
            </a:r>
          </a:p>
        </p:txBody>
      </p:sp>
    </p:spTree>
    <p:extLst>
      <p:ext uri="{BB962C8B-B14F-4D97-AF65-F5344CB8AC3E}">
        <p14:creationId xmlns:p14="http://schemas.microsoft.com/office/powerpoint/2010/main" val="3966978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D4D487C0-5910-4D77-AAC5-38583C39A4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DE9C89A-6272-4F06-93C7-20FCFF6382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600" y="642594"/>
            <a:ext cx="4323403" cy="1371600"/>
          </a:xfrm>
        </p:spPr>
        <p:txBody>
          <a:bodyPr>
            <a:normAutofit/>
          </a:bodyPr>
          <a:lstStyle/>
          <a:p>
            <a:r>
              <a:rPr lang="fr-FR" sz="3700"/>
              <a:t>"Flow"</a:t>
            </a:r>
            <a:br>
              <a:rPr lang="fr-FR" sz="3700"/>
            </a:br>
            <a:r>
              <a:rPr lang="fr-FR" sz="3700"/>
              <a:t>le flux de contenu</a:t>
            </a:r>
            <a:endParaRPr lang="en-US" sz="370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1AAB63-B4E2-446F-A7F3-0E3A1FCA50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579451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AA6A56FE-945B-4E36-BE81-FB26A83721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7654" y="2247919"/>
            <a:ext cx="5367165" cy="2374969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5B45966-E913-4A63-BAA5-D611B4F8B0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13600" y="2103120"/>
            <a:ext cx="4323404" cy="3931920"/>
          </a:xfrm>
        </p:spPr>
        <p:txBody>
          <a:bodyPr>
            <a:normAutofit/>
          </a:bodyPr>
          <a:lstStyle/>
          <a:p>
            <a:r>
              <a:rPr lang="fr-FR"/>
              <a:t>Les sites Web sont historiquement calqués sur le modèle du document papier, d'où le nom "page Web"</a:t>
            </a:r>
          </a:p>
          <a:p>
            <a:r>
              <a:rPr lang="fr-FR"/>
              <a:t>La disposition du contenu par défaut en CSS suit les même règles que l'imprimerie classique: des éléments </a:t>
            </a:r>
            <a:r>
              <a:rPr lang="fr-FR" b="1"/>
              <a:t>inline </a:t>
            </a:r>
            <a:r>
              <a:rPr lang="fr-FR"/>
              <a:t>et des éléments de</a:t>
            </a:r>
            <a:r>
              <a:rPr lang="fr-FR" b="1"/>
              <a:t> blocs</a:t>
            </a:r>
          </a:p>
          <a:p>
            <a:r>
              <a:rPr lang="fr-FR"/>
              <a:t>Le contenu inline et block occupe toute la largeur disponible, puis s'étend dans le sens de la hauteur</a:t>
            </a:r>
          </a:p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AEACF9-5825-43E0-B0F8-797C142C2F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27457" y="374904"/>
            <a:ext cx="4892687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0" name="Flèche : droite 9">
            <a:extLst>
              <a:ext uri="{FF2B5EF4-FFF2-40B4-BE49-F238E27FC236}">
                <a16:creationId xmlns:a16="http://schemas.microsoft.com/office/drawing/2014/main" id="{AC7D715F-9A2B-408E-ACF5-2AF6FFD314C2}"/>
              </a:ext>
            </a:extLst>
          </p:cNvPr>
          <p:cNvSpPr/>
          <p:nvPr/>
        </p:nvSpPr>
        <p:spPr>
          <a:xfrm>
            <a:off x="727654" y="2580774"/>
            <a:ext cx="5318214" cy="45719"/>
          </a:xfrm>
          <a:prstGeom prst="rightArrow">
            <a:avLst/>
          </a:prstGeom>
          <a:solidFill>
            <a:srgbClr val="A5300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lèche : droite 13">
            <a:extLst>
              <a:ext uri="{FF2B5EF4-FFF2-40B4-BE49-F238E27FC236}">
                <a16:creationId xmlns:a16="http://schemas.microsoft.com/office/drawing/2014/main" id="{DEB240A5-5720-4947-973F-017A0CE7040D}"/>
              </a:ext>
            </a:extLst>
          </p:cNvPr>
          <p:cNvSpPr/>
          <p:nvPr/>
        </p:nvSpPr>
        <p:spPr>
          <a:xfrm>
            <a:off x="729660" y="2679030"/>
            <a:ext cx="4233366" cy="45719"/>
          </a:xfrm>
          <a:prstGeom prst="rightArrow">
            <a:avLst/>
          </a:prstGeom>
          <a:solidFill>
            <a:srgbClr val="A5300F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BBF99A11-23F0-42B5-9E30-72876BB61E1A}"/>
              </a:ext>
            </a:extLst>
          </p:cNvPr>
          <p:cNvSpPr txBox="1"/>
          <p:nvPr/>
        </p:nvSpPr>
        <p:spPr>
          <a:xfrm>
            <a:off x="4963026" y="2679030"/>
            <a:ext cx="792079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/>
              <a:t>inline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E4FDD03-3E76-4F41-8F91-35D58428963D}"/>
              </a:ext>
            </a:extLst>
          </p:cNvPr>
          <p:cNvSpPr/>
          <p:nvPr/>
        </p:nvSpPr>
        <p:spPr>
          <a:xfrm>
            <a:off x="727654" y="2191350"/>
            <a:ext cx="5318214" cy="289526"/>
          </a:xfrm>
          <a:prstGeom prst="rect">
            <a:avLst/>
          </a:prstGeom>
          <a:solidFill>
            <a:srgbClr val="A5300F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45B02F1-A7D9-40C4-82AF-C1786FC055C3}"/>
              </a:ext>
            </a:extLst>
          </p:cNvPr>
          <p:cNvSpPr/>
          <p:nvPr/>
        </p:nvSpPr>
        <p:spPr>
          <a:xfrm>
            <a:off x="727654" y="4020568"/>
            <a:ext cx="5318214" cy="212896"/>
          </a:xfrm>
          <a:prstGeom prst="rect">
            <a:avLst/>
          </a:prstGeom>
          <a:solidFill>
            <a:srgbClr val="A5300F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203CB95-A3A8-40D6-B7BE-046F88435611}"/>
              </a:ext>
            </a:extLst>
          </p:cNvPr>
          <p:cNvSpPr/>
          <p:nvPr/>
        </p:nvSpPr>
        <p:spPr>
          <a:xfrm>
            <a:off x="727654" y="3162009"/>
            <a:ext cx="5318214" cy="819077"/>
          </a:xfrm>
          <a:prstGeom prst="rect">
            <a:avLst/>
          </a:prstGeom>
          <a:solidFill>
            <a:srgbClr val="A5300F">
              <a:alpha val="20000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44AEF42A-D98D-4C31-8207-79F73AFB1C30}"/>
              </a:ext>
            </a:extLst>
          </p:cNvPr>
          <p:cNvSpPr txBox="1"/>
          <p:nvPr/>
        </p:nvSpPr>
        <p:spPr>
          <a:xfrm>
            <a:off x="4963026" y="3757684"/>
            <a:ext cx="872382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/>
              <a:t>block</a:t>
            </a:r>
          </a:p>
        </p:txBody>
      </p:sp>
      <p:sp>
        <p:nvSpPr>
          <p:cNvPr id="21" name="Flèche : droite 20">
            <a:extLst>
              <a:ext uri="{FF2B5EF4-FFF2-40B4-BE49-F238E27FC236}">
                <a16:creationId xmlns:a16="http://schemas.microsoft.com/office/drawing/2014/main" id="{DFB69C18-63BF-4CB4-822F-8364010AFFF3}"/>
              </a:ext>
            </a:extLst>
          </p:cNvPr>
          <p:cNvSpPr/>
          <p:nvPr/>
        </p:nvSpPr>
        <p:spPr>
          <a:xfrm>
            <a:off x="1040111" y="5406861"/>
            <a:ext cx="809697" cy="446659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lèche : droite 21">
            <a:extLst>
              <a:ext uri="{FF2B5EF4-FFF2-40B4-BE49-F238E27FC236}">
                <a16:creationId xmlns:a16="http://schemas.microsoft.com/office/drawing/2014/main" id="{5F5FFB27-E645-43CC-96EC-FA260BFEE230}"/>
              </a:ext>
            </a:extLst>
          </p:cNvPr>
          <p:cNvSpPr/>
          <p:nvPr/>
        </p:nvSpPr>
        <p:spPr>
          <a:xfrm rot="5400000">
            <a:off x="3607357" y="5406862"/>
            <a:ext cx="809697" cy="446659"/>
          </a:xfrm>
          <a:prstGeom prst="rightArrow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CA07CCE-DE81-49EA-816B-FAAFE2E66DE4}"/>
              </a:ext>
            </a:extLst>
          </p:cNvPr>
          <p:cNvSpPr txBox="1"/>
          <p:nvPr/>
        </p:nvSpPr>
        <p:spPr>
          <a:xfrm>
            <a:off x="1954443" y="5465460"/>
            <a:ext cx="935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>
                <a:solidFill>
                  <a:schemeClr val="bg1"/>
                </a:solidFill>
              </a:rPr>
              <a:t>inline</a:t>
            </a:r>
            <a:endParaRPr lang="en-US">
              <a:solidFill>
                <a:schemeClr val="bg1"/>
              </a:solidFill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2EA80A1-EB71-4C93-BC12-5A86AF528D57}"/>
              </a:ext>
            </a:extLst>
          </p:cNvPr>
          <p:cNvSpPr txBox="1"/>
          <p:nvPr/>
        </p:nvSpPr>
        <p:spPr>
          <a:xfrm>
            <a:off x="4361249" y="5445524"/>
            <a:ext cx="9354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>
                <a:solidFill>
                  <a:schemeClr val="bg1"/>
                </a:solidFill>
              </a:rPr>
              <a:t>block</a:t>
            </a:r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9110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4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97D882-EBD1-45E7-8472-5061FA9C6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Modèle de boîte</a:t>
            </a:r>
            <a:endParaRPr lang="en-US"/>
          </a:p>
        </p:txBody>
      </p:sp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D4219987-8D35-44B5-94AF-885DEDDC4AE3}"/>
              </a:ext>
            </a:extLst>
          </p:cNvPr>
          <p:cNvSpPr/>
          <p:nvPr/>
        </p:nvSpPr>
        <p:spPr>
          <a:xfrm>
            <a:off x="6959600" y="6146800"/>
            <a:ext cx="5232401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Exercice: Box Model d'un Bento</a:t>
            </a:r>
            <a:endParaRPr lang="en-US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4B26B574-725B-4752-8B39-C5ED7EC54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736" y="1800879"/>
            <a:ext cx="5102264" cy="423480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012EA44E-159A-4681-9457-B511E23B86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8898" y="1952419"/>
            <a:ext cx="5077534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391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4D369D4-8812-4739-87E5-03E72AFE8D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79450" y="727627"/>
            <a:ext cx="4957553" cy="1130990"/>
          </a:xfrm>
        </p:spPr>
        <p:txBody>
          <a:bodyPr>
            <a:normAutofit/>
          </a:bodyPr>
          <a:lstStyle/>
          <a:p>
            <a:r>
              <a:rPr lang="fr-FR"/>
              <a:t>Positionnement</a:t>
            </a:r>
            <a:endParaRPr lang="en-US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D3D8A564-EDF8-4D6B-B8E3-F5799F7115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053" y="1418665"/>
            <a:ext cx="5312766" cy="3984574"/>
          </a:xfrm>
          <a:prstGeom prst="rect">
            <a:avLst/>
          </a:prstGeom>
        </p:spPr>
      </p:pic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F7D4F80-F558-4FA9-946B-71FDD376DB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9450" y="1858617"/>
            <a:ext cx="4957554" cy="4176422"/>
          </a:xfrm>
        </p:spPr>
        <p:txBody>
          <a:bodyPr>
            <a:normAutofit/>
          </a:bodyPr>
          <a:lstStyle/>
          <a:p>
            <a:r>
              <a:rPr lang="fr-FR"/>
              <a:t>La propriété </a:t>
            </a:r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position</a:t>
            </a:r>
            <a:r>
              <a:rPr lang="fr-FR"/>
              <a:t> en CSS définit le positionnement d'un élement bloc dans le flux du document:</a:t>
            </a:r>
          </a:p>
          <a:p>
            <a:pPr lvl="1"/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static</a:t>
            </a:r>
            <a:r>
              <a:rPr lang="fr-FR"/>
              <a:t>: positionnement par défaut</a:t>
            </a:r>
          </a:p>
          <a:p>
            <a:pPr lvl="1"/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relative</a:t>
            </a:r>
            <a:r>
              <a:rPr lang="fr-FR"/>
              <a:t>: décalage par rapport au positionnement par défaut</a:t>
            </a:r>
          </a:p>
          <a:p>
            <a:pPr lvl="1"/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absolute</a:t>
            </a:r>
            <a:r>
              <a:rPr lang="fr-FR"/>
              <a:t>: placement absolu par rapport au plus proche parent positionné</a:t>
            </a:r>
          </a:p>
          <a:p>
            <a:pPr lvl="1"/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fixed</a:t>
            </a:r>
            <a:r>
              <a:rPr lang="fr-FR"/>
              <a:t>: positionnement absolu et fixe par rapport à la barre de défilement</a:t>
            </a:r>
          </a:p>
          <a:p>
            <a:pPr lvl="1"/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sticky</a:t>
            </a:r>
            <a:r>
              <a:rPr lang="fr-FR"/>
              <a:t>: équivalent à static ou fixed selon si la position initiale de l'élément est dans la zone délimiée par la barre de défilement</a:t>
            </a:r>
          </a:p>
        </p:txBody>
      </p:sp>
      <p:sp>
        <p:nvSpPr>
          <p:cNvPr id="5" name="Flèche : droite 4">
            <a:hlinkClick r:id="rId3"/>
            <a:extLst>
              <a:ext uri="{FF2B5EF4-FFF2-40B4-BE49-F238E27FC236}">
                <a16:creationId xmlns:a16="http://schemas.microsoft.com/office/drawing/2014/main" id="{748749B8-B37E-40B4-832D-EF2D6C397B47}"/>
              </a:ext>
            </a:extLst>
          </p:cNvPr>
          <p:cNvSpPr/>
          <p:nvPr/>
        </p:nvSpPr>
        <p:spPr>
          <a:xfrm>
            <a:off x="7726039" y="6123966"/>
            <a:ext cx="4465961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Démo en ligne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32629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87F6C8F-FB9D-46F1-B716-BC2C23E5B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Unités en CSS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AE7F83B-0E5D-42E4-9E84-47EF96A189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4100004" cy="3931920"/>
          </a:xfrm>
        </p:spPr>
        <p:txBody>
          <a:bodyPr/>
          <a:lstStyle/>
          <a:p>
            <a:pPr marL="0" indent="0">
              <a:buNone/>
            </a:pPr>
            <a:r>
              <a:rPr lang="fr-FR" u="sng"/>
              <a:t>Dimensions absolues:</a:t>
            </a:r>
          </a:p>
          <a:p>
            <a:r>
              <a:rPr lang="fr-FR"/>
              <a:t>px</a:t>
            </a:r>
          </a:p>
          <a:p>
            <a:r>
              <a:rPr lang="en-US"/>
              <a:t>cm, mm, in, pc, pt</a:t>
            </a:r>
          </a:p>
          <a:p>
            <a:endParaRPr lang="fr-FR"/>
          </a:p>
          <a:p>
            <a:pPr marL="0" indent="0">
              <a:buNone/>
            </a:pPr>
            <a:r>
              <a:rPr lang="fr-FR" u="sng"/>
              <a:t>Dimensions relatives:</a:t>
            </a:r>
          </a:p>
          <a:p>
            <a:r>
              <a:rPr lang="fr-FR"/>
              <a:t>%</a:t>
            </a:r>
          </a:p>
          <a:p>
            <a:r>
              <a:rPr lang="fr-FR"/>
              <a:t>em, ch</a:t>
            </a:r>
          </a:p>
          <a:p>
            <a:r>
              <a:rPr lang="fr-FR"/>
              <a:t>vh, vw, vmin, vmax</a:t>
            </a:r>
          </a:p>
          <a:p>
            <a:endParaRPr lang="en-US"/>
          </a:p>
        </p:txBody>
      </p:sp>
      <p:sp>
        <p:nvSpPr>
          <p:cNvPr id="4" name="Espace réservé du contenu 2">
            <a:extLst>
              <a:ext uri="{FF2B5EF4-FFF2-40B4-BE49-F238E27FC236}">
                <a16:creationId xmlns:a16="http://schemas.microsoft.com/office/drawing/2014/main" id="{16DA718E-0E16-41C0-8716-034869A5D419}"/>
              </a:ext>
            </a:extLst>
          </p:cNvPr>
          <p:cNvSpPr txBox="1">
            <a:spLocks/>
          </p:cNvSpPr>
          <p:nvPr/>
        </p:nvSpPr>
        <p:spPr>
          <a:xfrm>
            <a:off x="6096000" y="2103120"/>
            <a:ext cx="5513033" cy="39319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2"/>
              </a:buClr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fr-FR" u="sng"/>
              <a:t>Quiz: quelle unité choisir pour:</a:t>
            </a:r>
          </a:p>
          <a:p>
            <a:r>
              <a:rPr lang="fr-FR"/>
              <a:t>hauteur d'une image JPEG</a:t>
            </a:r>
          </a:p>
          <a:p>
            <a:r>
              <a:rPr lang="fr-FR"/>
              <a:t>taille de police d'un titre &lt;h1&gt;</a:t>
            </a:r>
          </a:p>
          <a:p>
            <a:r>
              <a:rPr lang="fr-FR"/>
              <a:t>épaisseur de bordure d'un tableau</a:t>
            </a:r>
          </a:p>
          <a:p>
            <a:r>
              <a:rPr lang="fr-FR"/>
              <a:t>largeur d'une image SVG</a:t>
            </a:r>
          </a:p>
          <a:p>
            <a:r>
              <a:rPr lang="fr-FR"/>
              <a:t>padding d'une boîte de texte</a:t>
            </a:r>
          </a:p>
          <a:p>
            <a:r>
              <a:rPr lang="fr-FR"/>
              <a:t>largeur d'une colonne </a:t>
            </a:r>
            <a:br>
              <a:rPr lang="fr-FR"/>
            </a:br>
            <a:r>
              <a:rPr lang="fr-FR"/>
              <a:t>(dans un layout à nombre fixe de colonnes)</a:t>
            </a:r>
          </a:p>
          <a:p>
            <a:r>
              <a:rPr lang="fr-FR"/>
              <a:t>largeur max d'une colonne</a:t>
            </a:r>
            <a:br>
              <a:rPr lang="fr-FR"/>
            </a:br>
            <a:r>
              <a:rPr lang="fr-FR"/>
              <a:t>(dans un layout à nombre variable de colonnes)</a:t>
            </a:r>
            <a:endParaRPr lang="en-US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113B561-2A9D-4880-B04D-F467C31DB86E}"/>
              </a:ext>
            </a:extLst>
          </p:cNvPr>
          <p:cNvSpPr txBox="1"/>
          <p:nvPr/>
        </p:nvSpPr>
        <p:spPr>
          <a:xfrm>
            <a:off x="9685947" y="2474843"/>
            <a:ext cx="478985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/>
              <a:t>px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F94D9F18-944A-4748-821E-BE57FA4F0615}"/>
              </a:ext>
            </a:extLst>
          </p:cNvPr>
          <p:cNvSpPr txBox="1"/>
          <p:nvPr/>
        </p:nvSpPr>
        <p:spPr>
          <a:xfrm>
            <a:off x="9288441" y="3655150"/>
            <a:ext cx="1125066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/>
              <a:t>% ou vw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7DD303F3-5BCA-47E3-92FA-2363D6EB057F}"/>
              </a:ext>
            </a:extLst>
          </p:cNvPr>
          <p:cNvSpPr txBox="1"/>
          <p:nvPr/>
        </p:nvSpPr>
        <p:spPr>
          <a:xfrm>
            <a:off x="10406415" y="3275162"/>
            <a:ext cx="653375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/>
              <a:t>px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FC06A26-A00F-4D5D-870F-EE9774CC514C}"/>
              </a:ext>
            </a:extLst>
          </p:cNvPr>
          <p:cNvSpPr txBox="1"/>
          <p:nvPr/>
        </p:nvSpPr>
        <p:spPr>
          <a:xfrm>
            <a:off x="9760132" y="2844175"/>
            <a:ext cx="653375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/>
              <a:t>rem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DDAA29C-1285-4CFC-BB8C-F5062700EDF9}"/>
              </a:ext>
            </a:extLst>
          </p:cNvPr>
          <p:cNvSpPr txBox="1"/>
          <p:nvPr/>
        </p:nvSpPr>
        <p:spPr>
          <a:xfrm>
            <a:off x="9820489" y="4052999"/>
            <a:ext cx="653375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/>
              <a:t>em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229DACB-A801-40DC-9590-2500514A5929}"/>
              </a:ext>
            </a:extLst>
          </p:cNvPr>
          <p:cNvSpPr txBox="1"/>
          <p:nvPr/>
        </p:nvSpPr>
        <p:spPr>
          <a:xfrm>
            <a:off x="11282346" y="4585677"/>
            <a:ext cx="409546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/>
              <a:t>%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A3D7DAA-3657-468D-ACE9-8F09BDC083DA}"/>
              </a:ext>
            </a:extLst>
          </p:cNvPr>
          <p:cNvSpPr txBox="1"/>
          <p:nvPr/>
        </p:nvSpPr>
        <p:spPr>
          <a:xfrm>
            <a:off x="10828412" y="5377269"/>
            <a:ext cx="543883" cy="369332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fr-FR"/>
              <a:t>px</a:t>
            </a:r>
            <a:endParaRPr lang="en-US"/>
          </a:p>
        </p:txBody>
      </p:sp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C435D4DC-B8E3-43DC-8684-74C4B9911833}"/>
              </a:ext>
            </a:extLst>
          </p:cNvPr>
          <p:cNvSpPr/>
          <p:nvPr/>
        </p:nvSpPr>
        <p:spPr>
          <a:xfrm>
            <a:off x="6959600" y="6146800"/>
            <a:ext cx="5232400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Chapitre 4: Inline &amp; Block Layout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789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B1DDFF"/>
            </a:gs>
            <a:gs pos="100000">
              <a:srgbClr val="B1DDFF">
                <a:lumMod val="64000"/>
                <a:lumOff val="36000"/>
              </a:srgb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AB8CD641-9DEB-4AF5-8236-E9C9CD4C9D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12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368300" ty="203200" sx="64000" sy="64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dirty="0">
                <a:solidFill>
                  <a:prstClr val="white"/>
                </a:solidFill>
              </a:rPr>
              <a:t>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D5E296C-7F37-495B-9C8F-C56402F0B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4FEA77F-6150-4990-AB1A-6C6AD09F79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6CC1B5B-CB1B-482B-BF03-89D1498F6D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B537E3F-FCF5-4357-95F0-E51BBB4639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828372" y="1267730"/>
            <a:ext cx="1567331" cy="645295"/>
            <a:chOff x="5318306" y="1386268"/>
            <a:chExt cx="1567331" cy="645295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D7DF7FB3-680A-495D-816C-0B5753E734E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DCC6119-A328-47FF-B1A6-2D09C09333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93585677-2F18-48C1-8C09-C26AD3F635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D465C1FC-DFA3-46C5-9FAF-C9C377B85E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002">
            <a:schemeClr val="lt2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B886C58-0AFE-441D-937C-CB88459BF7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47058" y="359775"/>
            <a:ext cx="3251796" cy="6137278"/>
          </a:xfrm>
          <a:prstGeom prst="rect">
            <a:avLst/>
          </a:prstGeom>
          <a:noFill/>
          <a:ln w="6350" cap="sq">
            <a:solidFill>
              <a:schemeClr val="bg2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887596A-5B39-4E0A-96AF-B91B643B22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0024" y="1559768"/>
            <a:ext cx="3238829" cy="313537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>
              <a:lnSpc>
                <a:spcPct val="83000"/>
              </a:lnSpc>
            </a:pPr>
            <a:r>
              <a:rPr lang="en-US" cap="all" spc="-100">
                <a:solidFill>
                  <a:schemeClr val="bg1"/>
                </a:solidFill>
              </a:rPr>
              <a:t>Flex </a:t>
            </a:r>
            <a:br>
              <a:rPr lang="en-US" cap="all" spc="-100">
                <a:solidFill>
                  <a:schemeClr val="bg1"/>
                </a:solidFill>
              </a:rPr>
            </a:br>
            <a:r>
              <a:rPr lang="en-US" cap="all" spc="-100">
                <a:solidFill>
                  <a:schemeClr val="bg1"/>
                </a:solidFill>
              </a:rPr>
              <a:t>&amp;</a:t>
            </a:r>
            <a:br>
              <a:rPr lang="en-US" cap="all" spc="-100">
                <a:solidFill>
                  <a:schemeClr val="bg1"/>
                </a:solidFill>
              </a:rPr>
            </a:br>
            <a:r>
              <a:rPr lang="en-US" cap="all" spc="-100">
                <a:solidFill>
                  <a:schemeClr val="bg1"/>
                </a:solidFill>
              </a:rPr>
              <a:t> Grid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29748EE-6E3E-4FC2-ACA0-1F12AB51C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867" y="0"/>
            <a:ext cx="8168743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3E5A381-D251-4880-9714-530B28D3EE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19318" y="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B7156C4-96CE-4C55-BBBF-3F10C23116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33618" y="-1172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8C3A3B4-2A59-4319-8007-200D721865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025258" y="-1172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33">
            <a:extLst>
              <a:ext uri="{FF2B5EF4-FFF2-40B4-BE49-F238E27FC236}">
                <a16:creationId xmlns:a16="http://schemas.microsoft.com/office/drawing/2014/main" id="{A9329761-0E22-487E-9CF4-FE08571F17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333618" y="644123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ZoneTexte 4">
            <a:extLst>
              <a:ext uri="{FF2B5EF4-FFF2-40B4-BE49-F238E27FC236}">
                <a16:creationId xmlns:a16="http://schemas.microsoft.com/office/drawing/2014/main" id="{E4FC2F06-D9FC-4DA6-B3B8-027D34AB175C}"/>
              </a:ext>
            </a:extLst>
          </p:cNvPr>
          <p:cNvSpPr txBox="1"/>
          <p:nvPr/>
        </p:nvSpPr>
        <p:spPr>
          <a:xfrm>
            <a:off x="8860448" y="4591346"/>
            <a:ext cx="277871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>
                <a:solidFill>
                  <a:schemeClr val="bg1"/>
                </a:solidFill>
              </a:rPr>
              <a:t>De nouveaux modes d'affichage pour </a:t>
            </a:r>
            <a:br>
              <a:rPr lang="fr-FR">
                <a:solidFill>
                  <a:schemeClr val="bg1"/>
                </a:solidFill>
              </a:rPr>
            </a:br>
            <a:r>
              <a:rPr lang="fr-FR">
                <a:solidFill>
                  <a:schemeClr val="bg1"/>
                </a:solidFill>
              </a:rPr>
              <a:t>l'ère des webapps</a:t>
            </a:r>
            <a:endParaRPr lang="en-US">
              <a:solidFill>
                <a:schemeClr val="bg1"/>
              </a:solidFill>
            </a:endParaRPr>
          </a:p>
        </p:txBody>
      </p:sp>
      <p:pic>
        <p:nvPicPr>
          <p:cNvPr id="6" name="Image 5">
            <a:extLst>
              <a:ext uri="{FF2B5EF4-FFF2-40B4-BE49-F238E27FC236}">
                <a16:creationId xmlns:a16="http://schemas.microsoft.com/office/drawing/2014/main" id="{D75752B4-C85A-4BF6-ADA7-D9DB0D570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223" y="1040309"/>
            <a:ext cx="7878274" cy="4305901"/>
          </a:xfrm>
          <a:prstGeom prst="rect">
            <a:avLst/>
          </a:prstGeom>
        </p:spPr>
      </p:pic>
      <p:sp>
        <p:nvSpPr>
          <p:cNvPr id="36" name="Flèche : droite 35">
            <a:extLst>
              <a:ext uri="{FF2B5EF4-FFF2-40B4-BE49-F238E27FC236}">
                <a16:creationId xmlns:a16="http://schemas.microsoft.com/office/drawing/2014/main" id="{102C9C45-8B56-4E03-A296-E2CB2243E6F1}"/>
              </a:ext>
            </a:extLst>
          </p:cNvPr>
          <p:cNvSpPr/>
          <p:nvPr/>
        </p:nvSpPr>
        <p:spPr>
          <a:xfrm>
            <a:off x="6959600" y="6146800"/>
            <a:ext cx="5232400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Chapitre 5 &amp; 6: Flex &amp; Grid Layout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2135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453AB8B-436C-4F43-9255-E2539D3477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Media queries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A7C4FB-5B2A-4D55-965A-A1C8865F9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Les requêtes media permettent d'appliquer des règles de style seulement sur un certain type d'appareil ou selon ses caractéristiques: la taille d'écran, son orientation, sa résolution, ses capacités en affichage de couleur etc.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Tous ces critères peuvent être combinés avec des opérateurs logiques </a:t>
            </a:r>
            <a:r>
              <a:rPr lang="en-US" b="1">
                <a:latin typeface="Consolas" panose="020B0609020204030204" pitchFamily="49" charset="0"/>
              </a:rPr>
              <a:t>and</a:t>
            </a:r>
            <a:r>
              <a:rPr lang="en-US"/>
              <a:t> et </a:t>
            </a:r>
            <a:r>
              <a:rPr lang="en-US" b="1">
                <a:latin typeface="Consolas" panose="020B0609020204030204" pitchFamily="49" charset="0"/>
              </a:rPr>
              <a:t>not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4210D81-1F97-4FDB-929F-CAD07FB872B9}"/>
              </a:ext>
            </a:extLst>
          </p:cNvPr>
          <p:cNvSpPr txBox="1"/>
          <p:nvPr/>
        </p:nvSpPr>
        <p:spPr>
          <a:xfrm>
            <a:off x="1066800" y="3145750"/>
            <a:ext cx="9631279" cy="92333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/>
              <a:t>@media print {</a:t>
            </a:r>
          </a:p>
          <a:p>
            <a:r>
              <a:rPr lang="en-US"/>
              <a:t>   img { display: none; } /* retire les images des impressions papier de la page web */</a:t>
            </a:r>
          </a:p>
          <a:p>
            <a:r>
              <a:rPr lang="en-US"/>
              <a:t>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F29D507-924A-41AD-946F-B85B2F035EC5}"/>
              </a:ext>
            </a:extLst>
          </p:cNvPr>
          <p:cNvSpPr txBox="1"/>
          <p:nvPr/>
        </p:nvSpPr>
        <p:spPr>
          <a:xfrm>
            <a:off x="1066800" y="4650045"/>
            <a:ext cx="9631279" cy="92333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/>
              <a:t>@media screen and (min-width: 30em) and (orientation: landscape) { ... }</a:t>
            </a:r>
          </a:p>
          <a:p>
            <a:r>
              <a:rPr lang="en-US"/>
              <a:t>@media (not(hover)) { ... }</a:t>
            </a:r>
          </a:p>
          <a:p>
            <a:r>
              <a:rPr lang="en-US"/>
              <a:t>@media (480px &lt;= width &lt;= 960px) { ... }</a:t>
            </a:r>
          </a:p>
        </p:txBody>
      </p:sp>
      <p:sp>
        <p:nvSpPr>
          <p:cNvPr id="9" name="Flèche : droite 8">
            <a:hlinkClick r:id="rId2"/>
            <a:extLst>
              <a:ext uri="{FF2B5EF4-FFF2-40B4-BE49-F238E27FC236}">
                <a16:creationId xmlns:a16="http://schemas.microsoft.com/office/drawing/2014/main" id="{A2DF74DA-286F-49BC-A704-DFC2C3B1A83D}"/>
              </a:ext>
            </a:extLst>
          </p:cNvPr>
          <p:cNvSpPr/>
          <p:nvPr/>
        </p:nvSpPr>
        <p:spPr>
          <a:xfrm>
            <a:off x="6959600" y="6146800"/>
            <a:ext cx="5232401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Plus d'informations: MDN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997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CCDBB-91F8-B4CA-9815-75A333B73E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29C1AB-4335-AE27-490B-FB9D182AD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Container </a:t>
            </a:r>
            <a:r>
              <a:rPr lang="fr-FR" dirty="0" err="1"/>
              <a:t>queries</a:t>
            </a:r>
            <a:endParaRPr lang="en-US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9C6F03F-AA7D-518A-DDA0-DC7C35010E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10058400" cy="4281638"/>
          </a:xfrm>
        </p:spPr>
        <p:txBody>
          <a:bodyPr>
            <a:normAutofit/>
          </a:bodyPr>
          <a:lstStyle/>
          <a:p>
            <a:r>
              <a:rPr lang="fr-FR" dirty="0"/>
              <a:t>Les requêtes container sont équivalentes aux media </a:t>
            </a:r>
            <a:r>
              <a:rPr lang="fr-FR" dirty="0" err="1"/>
              <a:t>queries</a:t>
            </a:r>
            <a:r>
              <a:rPr lang="fr-FR" dirty="0"/>
              <a:t> mais appliquées aux dimensions d’un conteneur HTML en particulier. Elles sont utiles pour définir des points de rupture pour un même </a:t>
            </a:r>
            <a:r>
              <a:rPr lang="fr-FR" dirty="0" err="1"/>
              <a:t>élémént</a:t>
            </a:r>
            <a:r>
              <a:rPr lang="fr-FR" dirty="0"/>
              <a:t> utilisé dans diverses mises en page.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On </a:t>
            </a:r>
            <a:r>
              <a:rPr lang="en-US" dirty="0" err="1"/>
              <a:t>peut</a:t>
            </a:r>
            <a:r>
              <a:rPr lang="en-US" dirty="0"/>
              <a:t> ensuite tester des conditions sur la taille du </a:t>
            </a:r>
            <a:r>
              <a:rPr lang="en-US" dirty="0" err="1"/>
              <a:t>conteneur</a:t>
            </a:r>
            <a:endParaRPr lang="en-US" dirty="0"/>
          </a:p>
          <a:p>
            <a:endParaRPr lang="en-US" b="1" dirty="0">
              <a:latin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</a:endParaRPr>
          </a:p>
          <a:p>
            <a:endParaRPr lang="en-US" b="1" dirty="0">
              <a:latin typeface="Consolas" panose="020B0609020204030204" pitchFamily="49" charset="0"/>
            </a:endParaRPr>
          </a:p>
          <a:p>
            <a:r>
              <a:rPr lang="en-US" b="1" dirty="0">
                <a:latin typeface="Consolas" panose="020B0609020204030204" pitchFamily="49" charset="0"/>
              </a:rPr>
              <a:t>Attention, le support </a:t>
            </a:r>
            <a:r>
              <a:rPr lang="en-US" b="1" dirty="0" err="1">
                <a:latin typeface="Consolas" panose="020B0609020204030204" pitchFamily="49" charset="0"/>
              </a:rPr>
              <a:t>navigateur</a:t>
            </a:r>
            <a:r>
              <a:rPr lang="en-US" b="1" dirty="0">
                <a:latin typeface="Consolas" panose="020B0609020204030204" pitchFamily="49" charset="0"/>
              </a:rPr>
              <a:t> </a:t>
            </a:r>
            <a:r>
              <a:rPr lang="en-US" b="1" dirty="0" err="1">
                <a:latin typeface="Consolas" panose="020B0609020204030204" pitchFamily="49" charset="0"/>
                <a:hlinkClick r:id="rId2"/>
              </a:rPr>
              <a:t>reste</a:t>
            </a:r>
            <a:r>
              <a:rPr lang="en-US" b="1" dirty="0">
                <a:latin typeface="Consolas" panose="020B0609020204030204" pitchFamily="49" charset="0"/>
                <a:hlinkClick r:id="rId2"/>
              </a:rPr>
              <a:t> </a:t>
            </a:r>
            <a:r>
              <a:rPr lang="en-US" b="1" dirty="0" err="1">
                <a:latin typeface="Consolas" panose="020B0609020204030204" pitchFamily="49" charset="0"/>
                <a:hlinkClick r:id="rId2"/>
              </a:rPr>
              <a:t>limité</a:t>
            </a:r>
            <a:endParaRPr lang="en-US" b="1" dirty="0">
              <a:latin typeface="Consolas" panose="020B0609020204030204" pitchFamily="49" charset="0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A8A7D8ED-2557-17C5-507A-7A5E31CCD56F}"/>
              </a:ext>
            </a:extLst>
          </p:cNvPr>
          <p:cNvSpPr txBox="1"/>
          <p:nvPr/>
        </p:nvSpPr>
        <p:spPr>
          <a:xfrm>
            <a:off x="1066800" y="3137729"/>
            <a:ext cx="9631279" cy="92333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.my-container {</a:t>
            </a:r>
          </a:p>
          <a:p>
            <a:r>
              <a:rPr lang="en-US" dirty="0"/>
              <a:t>   container-type: size; /* declare un </a:t>
            </a:r>
            <a:r>
              <a:rPr lang="en-US" dirty="0" err="1"/>
              <a:t>contexte</a:t>
            </a:r>
            <a:r>
              <a:rPr lang="en-US" dirty="0"/>
              <a:t> de </a:t>
            </a:r>
            <a:r>
              <a:rPr lang="en-US" dirty="0" err="1"/>
              <a:t>conteneur</a:t>
            </a:r>
            <a:r>
              <a:rPr lang="en-US" dirty="0"/>
              <a:t> */</a:t>
            </a:r>
          </a:p>
          <a:p>
            <a:r>
              <a:rPr lang="en-US" dirty="0"/>
              <a:t>}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1BEA7F97-1A47-259C-13E7-CE55807788DD}"/>
              </a:ext>
            </a:extLst>
          </p:cNvPr>
          <p:cNvSpPr txBox="1"/>
          <p:nvPr/>
        </p:nvSpPr>
        <p:spPr>
          <a:xfrm>
            <a:off x="1066800" y="4682129"/>
            <a:ext cx="9631279" cy="92333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@container (width &lt;= 960px) { </a:t>
            </a:r>
          </a:p>
          <a:p>
            <a:r>
              <a:rPr lang="en-US" dirty="0"/>
              <a:t>   /* styles */</a:t>
            </a:r>
          </a:p>
          <a:p>
            <a:r>
              <a:rPr lang="en-US" dirty="0"/>
              <a:t>}</a:t>
            </a:r>
          </a:p>
        </p:txBody>
      </p:sp>
      <p:sp>
        <p:nvSpPr>
          <p:cNvPr id="9" name="Flèche : droite 8">
            <a:hlinkClick r:id="rId3"/>
            <a:extLst>
              <a:ext uri="{FF2B5EF4-FFF2-40B4-BE49-F238E27FC236}">
                <a16:creationId xmlns:a16="http://schemas.microsoft.com/office/drawing/2014/main" id="{B5A67355-2DE7-7D79-4178-D596BBBF5835}"/>
              </a:ext>
            </a:extLst>
          </p:cNvPr>
          <p:cNvSpPr/>
          <p:nvPr/>
        </p:nvSpPr>
        <p:spPr>
          <a:xfrm>
            <a:off x="6959600" y="6146800"/>
            <a:ext cx="5232401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Plus d'informations: MDN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0079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97D882-EBD1-45E7-8472-5061FA9C6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Responsive Web Design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5131B1-F347-4553-821A-1C91D0527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Le RWD, c'est l'approche de conception des sites web désormais incontournable qui consiste à faire des sites avec une expérience optimale peu importe la gamme d'appareil de l'utilisateur (smartphones, tablettes, laptop, desktop...)</a:t>
            </a:r>
          </a:p>
          <a:p>
            <a:r>
              <a:rPr lang="fr-FR" dirty="0"/>
              <a:t>Un site dit "</a:t>
            </a:r>
            <a:r>
              <a:rPr lang="fr-FR" i="1" dirty="0"/>
              <a:t>responsive</a:t>
            </a:r>
            <a:r>
              <a:rPr lang="fr-FR" dirty="0"/>
              <a:t>" va avoir une mise en page flexible, en privilégiant des </a:t>
            </a:r>
            <a:r>
              <a:rPr lang="fr-FR" b="1" dirty="0"/>
              <a:t>dimensions relatives</a:t>
            </a:r>
            <a:r>
              <a:rPr lang="fr-FR" dirty="0"/>
              <a:t> et en utilisant des </a:t>
            </a:r>
            <a:r>
              <a:rPr lang="fr-FR" b="1" dirty="0"/>
              <a:t>media </a:t>
            </a:r>
            <a:r>
              <a:rPr lang="fr-FR" b="1" dirty="0" err="1"/>
              <a:t>queries</a:t>
            </a:r>
            <a:r>
              <a:rPr lang="fr-FR" dirty="0"/>
              <a:t> pour adapter l'interface à toutes les résolutions et moyens d'interactions (souris, tactile...)</a:t>
            </a:r>
            <a:endParaRPr lang="en-US" dirty="0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2BC01A83-109E-4953-AD54-4269D6EDC4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799" y="3910679"/>
            <a:ext cx="3224401" cy="2363491"/>
          </a:xfrm>
          <a:prstGeom prst="rect">
            <a:avLst/>
          </a:prstGeom>
        </p:spPr>
      </p:pic>
      <p:sp>
        <p:nvSpPr>
          <p:cNvPr id="6" name="Flèche : droite 5">
            <a:hlinkClick r:id="rId3"/>
            <a:extLst>
              <a:ext uri="{FF2B5EF4-FFF2-40B4-BE49-F238E27FC236}">
                <a16:creationId xmlns:a16="http://schemas.microsoft.com/office/drawing/2014/main" id="{26F37A37-513C-4420-BB19-EBD68A39C24D}"/>
              </a:ext>
            </a:extLst>
          </p:cNvPr>
          <p:cNvSpPr/>
          <p:nvPr/>
        </p:nvSpPr>
        <p:spPr>
          <a:xfrm>
            <a:off x="6959600" y="6146800"/>
            <a:ext cx="5232399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Démo: OneCake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86795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369FCE0-F26F-7127-5DB1-B1657DFC8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Responsive Web Design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99DE912-6C31-2DF8-45C1-065D06D6A6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Font typeface="+mj-lt"/>
              <a:buAutoNum type="arabicPeriod"/>
            </a:pPr>
            <a:r>
              <a:rPr lang="fr-FR" dirty="0"/>
              <a:t>Privilégier les unités relatives: </a:t>
            </a:r>
            <a:r>
              <a:rPr lang="fr-FR" dirty="0" err="1"/>
              <a:t>vw</a:t>
            </a:r>
            <a:r>
              <a:rPr lang="fr-FR" dirty="0"/>
              <a:t>/</a:t>
            </a:r>
            <a:r>
              <a:rPr lang="fr-FR" dirty="0" err="1"/>
              <a:t>vh</a:t>
            </a:r>
            <a:r>
              <a:rPr lang="fr-FR" dirty="0"/>
              <a:t> et % pour le </a:t>
            </a:r>
            <a:r>
              <a:rPr lang="fr-FR" dirty="0" err="1"/>
              <a:t>layout</a:t>
            </a:r>
            <a:r>
              <a:rPr lang="fr-FR" dirty="0"/>
              <a:t>, </a:t>
            </a:r>
            <a:r>
              <a:rPr lang="fr-FR" dirty="0" err="1"/>
              <a:t>em</a:t>
            </a:r>
            <a:r>
              <a:rPr lang="fr-FR" dirty="0"/>
              <a:t>/</a:t>
            </a:r>
            <a:r>
              <a:rPr lang="fr-FR" dirty="0" err="1"/>
              <a:t>ch</a:t>
            </a:r>
            <a:r>
              <a:rPr lang="fr-FR" dirty="0"/>
              <a:t> et % pour les polices</a:t>
            </a:r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Utiliser les media </a:t>
            </a:r>
            <a:r>
              <a:rPr lang="fr-FR" dirty="0" err="1"/>
              <a:t>queries</a:t>
            </a:r>
            <a:r>
              <a:rPr lang="fr-FR" dirty="0"/>
              <a:t> pour définir les points de rupture de vos </a:t>
            </a:r>
            <a:r>
              <a:rPr lang="fr-FR" dirty="0" err="1"/>
              <a:t>layouts</a:t>
            </a:r>
            <a:r>
              <a:rPr lang="fr-FR" dirty="0"/>
              <a:t>, et les container </a:t>
            </a:r>
            <a:r>
              <a:rPr lang="fr-FR" dirty="0" err="1"/>
              <a:t>queries</a:t>
            </a:r>
            <a:r>
              <a:rPr lang="fr-FR" dirty="0"/>
              <a:t> quand les autres options ne suffisent pas</a:t>
            </a:r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Pensez vos médias pour tous supports: résolutions d’image variables avec &lt;</a:t>
            </a:r>
            <a:r>
              <a:rPr lang="fr-FR" dirty="0" err="1"/>
              <a:t>picture</a:t>
            </a:r>
            <a:r>
              <a:rPr lang="fr-FR" dirty="0"/>
              <a:t>&gt;</a:t>
            </a:r>
          </a:p>
          <a:p>
            <a:pPr marL="342900" indent="-342900">
              <a:buFont typeface="+mj-lt"/>
              <a:buAutoNum type="arabicPeriod"/>
            </a:pPr>
            <a:r>
              <a:rPr lang="fr-FR" dirty="0"/>
              <a:t>Pensez la navigation et l’usage pour tous types d’interaction: souris, clavier, tactile</a:t>
            </a:r>
          </a:p>
          <a:p>
            <a:pPr marL="342900" indent="-342900">
              <a:buFont typeface="+mj-lt"/>
              <a:buAutoNum type="arabicPeriod"/>
            </a:pPr>
            <a:r>
              <a:rPr lang="fr-FR" b="1" dirty="0"/>
              <a:t>Testez</a:t>
            </a:r>
            <a:r>
              <a:rPr lang="fr-FR" dirty="0"/>
              <a:t>, avec autant d’appareils et de contextes utilisateur différents possibles</a:t>
            </a:r>
          </a:p>
        </p:txBody>
      </p:sp>
    </p:spTree>
    <p:extLst>
      <p:ext uri="{BB962C8B-B14F-4D97-AF65-F5344CB8AC3E}">
        <p14:creationId xmlns:p14="http://schemas.microsoft.com/office/powerpoint/2010/main" val="353360749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80000"/>
                <a:shade val="100000"/>
                <a:satMod val="300000"/>
              </a:schemeClr>
            </a:gs>
            <a:gs pos="100000">
              <a:schemeClr val="bg2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06E093-5426-4593-B46F-CB832FAC6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blipFill dpi="0" rotWithShape="1">
            <a:blip r:embed="rId2">
              <a:alphaModFix amt="12000"/>
              <a:duotone>
                <a:schemeClr val="accent1">
                  <a:shade val="45000"/>
                  <a:satMod val="135000"/>
                </a:schemeClr>
                <a:prstClr val="white"/>
              </a:duotone>
            </a:blip>
            <a:srcRect/>
            <a:tile tx="-368300" ty="203200" sx="64000" sy="64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dirty="0">
                <a:solidFill>
                  <a:prstClr val="white"/>
                </a:solidFill>
              </a:rPr>
              <a:t>C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28B0E8F-3EF4-4D31-A768-5F5A67AA11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259DE6E-747A-45AF-98DD-23896F9576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887F806-D158-4704-BA5A-D9A83B361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0D10512-F6B0-43F5-BE9B-475FAEBFF1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4828372" y="1267730"/>
            <a:ext cx="1567331" cy="645295"/>
            <a:chOff x="5318306" y="1386268"/>
            <a:chExt cx="1567331" cy="645295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AE38F9B-010A-43A2-AAB2-65FFA290032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318306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4CEF6FD-9C62-4C44-8AA3-A0FBAB091B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885637" y="1386268"/>
              <a:ext cx="0" cy="64008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5AE33AD2-D8F9-4258-8F98-032285C5DF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318306" y="2031563"/>
              <a:ext cx="1567331" cy="0"/>
            </a:xfrm>
            <a:prstGeom prst="line">
              <a:avLst/>
            </a:prstGeom>
            <a:solidFill>
              <a:schemeClr val="tx1">
                <a:lumMod val="85000"/>
                <a:lumOff val="15000"/>
              </a:schemeClr>
            </a:solidFill>
            <a:ln>
              <a:solidFill>
                <a:schemeClr val="accent1">
                  <a:lumMod val="20000"/>
                  <a:lumOff val="80000"/>
                </a:scheme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022F4A7A-06EB-440D-BB5D-148BC43BB2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BB71B6CB-D3F6-4E20-A7D5-B15F344862E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  <a:alphaModFix amt="75000"/>
          </a:blip>
          <a:srcRect/>
          <a:stretch/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28D7DCE8-958E-4A47-A62F-1C11E91033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76356"/>
            <a:ext cx="9576262" cy="43079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6FB24AD-0638-4E4A-9A83-EF0DF80B9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solidFill>
            <a:schemeClr val="tx2"/>
          </a:solidFill>
          <a:ln w="6350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9536FC2-E18C-4E01-842D-B168CF8FC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1708" y="2091263"/>
            <a:ext cx="9068586" cy="25908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6100"/>
              <a:t>TYPOGRAPHIE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7E893734-C586-4F5E-A5D1-F3A7471F49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62100" y="4682062"/>
            <a:ext cx="9070848" cy="45720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spcBef>
                <a:spcPts val="0"/>
              </a:spcBef>
            </a:pPr>
            <a:r>
              <a:rPr lang="fr-FR" spc="80"/>
              <a:t>Typographie et gestion du texte en CSS</a:t>
            </a:r>
            <a:endParaRPr lang="en-US" spc="8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4CA5BB4-AE84-42D4-AA4C-88520F65CC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780A809-8317-4F8A-B353-F4D620E9FC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FDC0101D-E418-40C8-ACC0-87EF461E0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94182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9CA778AE-CCF4-40F5-8336-DA2F7E657A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913025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rgbClr val="FFFFFF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lèche : droite 20">
            <a:extLst>
              <a:ext uri="{FF2B5EF4-FFF2-40B4-BE49-F238E27FC236}">
                <a16:creationId xmlns:a16="http://schemas.microsoft.com/office/drawing/2014/main" id="{67B0F9D5-6684-45AA-91E8-771E730E431F}"/>
              </a:ext>
            </a:extLst>
          </p:cNvPr>
          <p:cNvSpPr/>
          <p:nvPr/>
        </p:nvSpPr>
        <p:spPr>
          <a:xfrm>
            <a:off x="6959600" y="6146800"/>
            <a:ext cx="5232400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Chapitre 7: Typographie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252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B1DDFF"/>
            </a:gs>
            <a:gs pos="100000">
              <a:srgbClr val="B1DDFF">
                <a:lumMod val="64000"/>
                <a:lumOff val="36000"/>
              </a:srgb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4">
            <a:extLst>
              <a:ext uri="{FF2B5EF4-FFF2-40B4-BE49-F238E27FC236}">
                <a16:creationId xmlns:a16="http://schemas.microsoft.com/office/drawing/2014/main" id="{3A4AD8BF-6126-2FA8-7049-6EB579B19E6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223" b="11550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80F030CA-B6DF-452A-BAEE-53C931EAA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07870" y="1267730"/>
            <a:ext cx="9576262" cy="4307950"/>
          </a:xfrm>
          <a:prstGeom prst="rect">
            <a:avLst/>
          </a:prstGeom>
          <a:solidFill>
            <a:schemeClr val="tx2"/>
          </a:solidFill>
          <a:ln w="6350" cap="flat" cmpd="sng" algn="ctr">
            <a:noFill/>
            <a:prstDash val="solid"/>
          </a:ln>
          <a:effectLst>
            <a:outerShdw blurRad="50800" algn="ctr" rotWithShape="0">
              <a:prstClr val="black">
                <a:alpha val="66000"/>
              </a:prstClr>
            </a:outerShdw>
            <a:softEdge rad="0"/>
          </a:effectLst>
        </p:spPr>
        <p:txBody>
          <a:bodyPr/>
          <a:lstStyle/>
          <a:p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C696FB6-5762-4CA2-A49D-939D772E83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47801" y="1411615"/>
            <a:ext cx="9296400" cy="4034770"/>
          </a:xfrm>
          <a:prstGeom prst="rect">
            <a:avLst/>
          </a:prstGeom>
          <a:noFill/>
          <a:ln w="6350" cap="sq" cmpd="sng" algn="ctr">
            <a:solidFill>
              <a:schemeClr val="bg2"/>
            </a:solidFill>
            <a:prstDash val="solid"/>
            <a:miter lim="800000"/>
          </a:ln>
          <a:effectLst/>
        </p:spPr>
        <p:txBody>
          <a:bodyPr/>
          <a:lstStyle/>
          <a:p>
            <a:endParaRPr lang="fr-FR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0637DB9-FC2A-42E6-8011-B08FC1C208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61708" y="2091263"/>
            <a:ext cx="9068586" cy="2590800"/>
          </a:xfrm>
        </p:spPr>
        <p:txBody>
          <a:bodyPr>
            <a:normAutofit/>
          </a:bodyPr>
          <a:lstStyle/>
          <a:p>
            <a:r>
              <a:rPr lang="fr-FR"/>
              <a:t>images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ED3A892-0B5E-4D33-BF64-4F6C6CD689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62100" y="4682062"/>
            <a:ext cx="9070848" cy="457201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fr-FR"/>
              <a:t>Mise en page et manipulation d'images et fonds d'éléments en CSS</a:t>
            </a:r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30E7218-013F-404F-ABFE-A53EF93B1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5880" y="1267730"/>
            <a:ext cx="1920240" cy="7315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C18E85E-59D8-44F2-8F92-39C6DC195A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D3137FD-1D6F-40A8-ABB8-23A7A8D0C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941820" y="1267730"/>
            <a:ext cx="0" cy="64008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3C0D3D1-8437-4036-B501-C9E6CA12E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250180" y="1913025"/>
            <a:ext cx="1691640" cy="0"/>
          </a:xfrm>
          <a:prstGeom prst="line">
            <a:avLst/>
          </a:prstGeom>
          <a:solidFill>
            <a:schemeClr val="tx1">
              <a:lumMod val="85000"/>
              <a:lumOff val="15000"/>
            </a:schemeClr>
          </a:solidFill>
          <a:ln>
            <a:solidFill>
              <a:schemeClr val="bg1"/>
            </a:solidFill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1A290AF9-DFBA-4E8A-B5D1-3411C417BEED}"/>
              </a:ext>
            </a:extLst>
          </p:cNvPr>
          <p:cNvSpPr/>
          <p:nvPr/>
        </p:nvSpPr>
        <p:spPr>
          <a:xfrm>
            <a:off x="6959600" y="6146800"/>
            <a:ext cx="5232400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Chapitre 8: Background &amp; Images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5869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97D882-EBD1-45E7-8472-5061FA9C6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Interactions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5131B1-F347-4553-821A-1C91D0527C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2103120"/>
            <a:ext cx="10058400" cy="2450833"/>
          </a:xfrm>
        </p:spPr>
        <p:txBody>
          <a:bodyPr/>
          <a:lstStyle/>
          <a:p>
            <a:pPr marL="0" indent="0">
              <a:buNone/>
            </a:pPr>
            <a:r>
              <a:rPr lang="fr-FR"/>
              <a:t>Changez le style des éléments en feedback à certaines interactions utilisateur:</a:t>
            </a:r>
          </a:p>
          <a:p>
            <a:r>
              <a:rPr lang="fr-FR"/>
              <a:t>survol de la souris: </a:t>
            </a:r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a:hover</a:t>
            </a:r>
          </a:p>
          <a:p>
            <a:r>
              <a:rPr lang="fr-FR"/>
              <a:t>focus sur un élément: </a:t>
            </a:r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textarea:focus</a:t>
            </a:r>
          </a:p>
          <a:p>
            <a:r>
              <a:rPr lang="fr-FR"/>
              <a:t>activation d'un élément: </a:t>
            </a:r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button:active</a:t>
            </a:r>
          </a:p>
          <a:p>
            <a:r>
              <a:rPr lang="fr-FR"/>
              <a:t>état d'un champ de formulaire: </a:t>
            </a:r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input[type="checkbox"]:checked</a:t>
            </a:r>
          </a:p>
          <a:p>
            <a:r>
              <a:rPr lang="fr-FR"/>
              <a:t>validité d'un champ de formulaire: </a:t>
            </a:r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input:valid, input:invalid</a:t>
            </a:r>
            <a:endParaRPr lang="fr-FR"/>
          </a:p>
          <a:p>
            <a:endParaRPr lang="en-US"/>
          </a:p>
        </p:txBody>
      </p:sp>
      <p:sp>
        <p:nvSpPr>
          <p:cNvPr id="6" name="Flèche : droite 5">
            <a:hlinkClick r:id="rId2"/>
            <a:extLst>
              <a:ext uri="{FF2B5EF4-FFF2-40B4-BE49-F238E27FC236}">
                <a16:creationId xmlns:a16="http://schemas.microsoft.com/office/drawing/2014/main" id="{26F37A37-513C-4420-BB19-EBD68A39C24D}"/>
              </a:ext>
            </a:extLst>
          </p:cNvPr>
          <p:cNvSpPr/>
          <p:nvPr/>
        </p:nvSpPr>
        <p:spPr>
          <a:xfrm>
            <a:off x="7628384" y="6146800"/>
            <a:ext cx="4563616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Démo en ligne</a:t>
            </a:r>
            <a:endParaRPr lang="en-US"/>
          </a:p>
        </p:txBody>
      </p:sp>
      <p:pic>
        <p:nvPicPr>
          <p:cNvPr id="1026" name="Picture 2" descr="User, interaction, user interaction, user interface, smart touch, user  click, user input icon - Download on Iconfinder">
            <a:extLst>
              <a:ext uri="{FF2B5EF4-FFF2-40B4-BE49-F238E27FC236}">
                <a16:creationId xmlns:a16="http://schemas.microsoft.com/office/drawing/2014/main" id="{0D391E92-0CCA-48E4-9DAB-7EA0E02EC8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4546" y="553668"/>
            <a:ext cx="1427747" cy="14277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ZoneTexte 6">
            <a:extLst>
              <a:ext uri="{FF2B5EF4-FFF2-40B4-BE49-F238E27FC236}">
                <a16:creationId xmlns:a16="http://schemas.microsoft.com/office/drawing/2014/main" id="{99FF172E-5484-46F6-9EF3-D59E33AF5880}"/>
              </a:ext>
            </a:extLst>
          </p:cNvPr>
          <p:cNvSpPr txBox="1"/>
          <p:nvPr/>
        </p:nvSpPr>
        <p:spPr>
          <a:xfrm>
            <a:off x="1136984" y="4743364"/>
            <a:ext cx="8422105" cy="923330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marL="274320" lvl="1" indent="0">
              <a:buNone/>
            </a:pPr>
            <a:r>
              <a:rPr lang="en-US" b="1"/>
              <a:t>Ne supprimez pas les styles par défaut aux interactions, comme le soulignement au survol de liens ou l'outline au focus de boîtes de texte.</a:t>
            </a:r>
          </a:p>
          <a:p>
            <a:pPr marL="274320" lvl="1" indent="0">
              <a:buNone/>
            </a:pPr>
            <a:r>
              <a:rPr lang="en-US" b="1"/>
              <a:t>Ils sont essentiels pour l'utilisabilité de votre site.</a:t>
            </a:r>
          </a:p>
        </p:txBody>
      </p:sp>
    </p:spTree>
    <p:extLst>
      <p:ext uri="{BB962C8B-B14F-4D97-AF65-F5344CB8AC3E}">
        <p14:creationId xmlns:p14="http://schemas.microsoft.com/office/powerpoint/2010/main" val="1205107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97D882-EBD1-45E7-8472-5061FA9C6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Transitions et Animations</a:t>
            </a:r>
            <a:endParaRPr lang="en-US"/>
          </a:p>
        </p:txBody>
      </p:sp>
      <p:sp>
        <p:nvSpPr>
          <p:cNvPr id="6" name="Flèche : droite 5">
            <a:hlinkClick r:id="rId2"/>
            <a:extLst>
              <a:ext uri="{FF2B5EF4-FFF2-40B4-BE49-F238E27FC236}">
                <a16:creationId xmlns:a16="http://schemas.microsoft.com/office/drawing/2014/main" id="{26F37A37-513C-4420-BB19-EBD68A39C24D}"/>
              </a:ext>
            </a:extLst>
          </p:cNvPr>
          <p:cNvSpPr/>
          <p:nvPr/>
        </p:nvSpPr>
        <p:spPr>
          <a:xfrm>
            <a:off x="7726039" y="6123966"/>
            <a:ext cx="4465961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Démo en ligne</a:t>
            </a:r>
            <a:endParaRPr lang="en-US"/>
          </a:p>
        </p:txBody>
      </p:sp>
      <p:sp>
        <p:nvSpPr>
          <p:cNvPr id="5" name="Espace réservé du contenu 2">
            <a:extLst>
              <a:ext uri="{FF2B5EF4-FFF2-40B4-BE49-F238E27FC236}">
                <a16:creationId xmlns:a16="http://schemas.microsoft.com/office/drawing/2014/main" id="{AB75B10B-1B4D-4A48-9355-656826E5A1F5}"/>
              </a:ext>
            </a:extLst>
          </p:cNvPr>
          <p:cNvSpPr txBox="1">
            <a:spLocks/>
          </p:cNvSpPr>
          <p:nvPr/>
        </p:nvSpPr>
        <p:spPr>
          <a:xfrm>
            <a:off x="1066800" y="1870509"/>
            <a:ext cx="10058400" cy="1558491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2"/>
              </a:buClr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itchFamily="34" charset="0"/>
              <a:buNone/>
            </a:pPr>
            <a:r>
              <a:rPr lang="fr-FR"/>
              <a:t>Transition = animation automatique entre deux changements de valeur de propriété</a:t>
            </a:r>
          </a:p>
          <a:p>
            <a:pPr marL="0" indent="0">
              <a:buFont typeface="Arial" pitchFamily="34" charset="0"/>
              <a:buNone/>
            </a:pPr>
            <a:r>
              <a:rPr lang="fr-FR"/>
              <a:t>Animation = animation programmée en décrivant les styles de chaque étape</a:t>
            </a:r>
          </a:p>
          <a:p>
            <a:pPr marL="0" indent="0">
              <a:buNone/>
            </a:pPr>
            <a:endParaRPr lang="fr-FR">
              <a:hlinkClick r:id="rId3"/>
            </a:endParaRPr>
          </a:p>
          <a:p>
            <a:pPr marL="0" indent="0">
              <a:buNone/>
            </a:pPr>
            <a:r>
              <a:rPr lang="fr-FR">
                <a:hlinkClick r:id="rId3"/>
              </a:rPr>
              <a:t>Liste complète des propriétés "animables"</a:t>
            </a:r>
            <a:endParaRPr lang="fr-FR"/>
          </a:p>
          <a:p>
            <a:pPr marL="0" indent="0">
              <a:buNone/>
            </a:pPr>
            <a:r>
              <a:rPr lang="fr-FR">
                <a:hlinkClick r:id="rId4"/>
              </a:rPr>
              <a:t>Visualiser les courbes d'accélération (easing functions)</a:t>
            </a:r>
            <a:endParaRPr lang="fr-FR"/>
          </a:p>
          <a:p>
            <a:pPr marL="0" indent="0">
              <a:buNone/>
            </a:pPr>
            <a:endParaRPr lang="fr-FR"/>
          </a:p>
          <a:p>
            <a:pPr marL="0" indent="0">
              <a:buNone/>
            </a:pPr>
            <a:endParaRPr lang="fr-FR"/>
          </a:p>
          <a:p>
            <a:pPr marL="0" indent="0">
              <a:buNone/>
            </a:pPr>
            <a:endParaRPr lang="fr-FR"/>
          </a:p>
          <a:p>
            <a:pPr marL="0" indent="0">
              <a:buNone/>
            </a:pPr>
            <a:endParaRPr lang="fr-FR"/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C658C573-FB71-45D0-B8D7-CE4CBF2918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86391" y="1019725"/>
            <a:ext cx="1945256" cy="617337"/>
          </a:xfrm>
          <a:prstGeom prst="rect">
            <a:avLst/>
          </a:prstGeom>
        </p:spPr>
      </p:pic>
      <p:sp>
        <p:nvSpPr>
          <p:cNvPr id="9" name="Espace réservé du contenu 2">
            <a:extLst>
              <a:ext uri="{FF2B5EF4-FFF2-40B4-BE49-F238E27FC236}">
                <a16:creationId xmlns:a16="http://schemas.microsoft.com/office/drawing/2014/main" id="{983B6A5D-C286-49AB-A80F-62394645D35A}"/>
              </a:ext>
            </a:extLst>
          </p:cNvPr>
          <p:cNvSpPr txBox="1">
            <a:spLocks/>
          </p:cNvSpPr>
          <p:nvPr/>
        </p:nvSpPr>
        <p:spPr>
          <a:xfrm>
            <a:off x="1066800" y="3664452"/>
            <a:ext cx="10058400" cy="2082382"/>
          </a:xfrm>
          <a:prstGeom prst="rect">
            <a:avLst/>
          </a:prstGeom>
        </p:spPr>
        <p:txBody>
          <a:bodyPr vert="horz" lIns="91440" tIns="45720" rIns="91440" bIns="45720" numCol="2" rtlCol="0">
            <a:normAutofit fontScale="92500" lnSpcReduction="10000"/>
          </a:bodyPr>
          <a:lstStyle>
            <a:lvl1pPr marL="182880" indent="-182880" algn="l" defTabSz="914400" rtl="0" eaLnBrk="1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tx2"/>
              </a:buClr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3152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0584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80160" indent="-18288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6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9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2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5000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Clr>
                <a:schemeClr val="tx2"/>
              </a:buClr>
              <a:buFont typeface="Arial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fr-FR" b="1" u="sng"/>
              <a:t>Propriétés associées:</a:t>
            </a:r>
          </a:p>
          <a:p>
            <a:r>
              <a:rPr lang="fr-FR"/>
              <a:t>transition-property</a:t>
            </a:r>
          </a:p>
          <a:p>
            <a:r>
              <a:rPr lang="fr-FR"/>
              <a:t>transition-duration</a:t>
            </a:r>
          </a:p>
          <a:p>
            <a:r>
              <a:rPr lang="fr-FR"/>
              <a:t>transition-delay</a:t>
            </a:r>
          </a:p>
          <a:p>
            <a:r>
              <a:rPr lang="fr-FR"/>
              <a:t>transition-timing-function</a:t>
            </a:r>
          </a:p>
          <a:p>
            <a:endParaRPr lang="fr-FR"/>
          </a:p>
          <a:p>
            <a:r>
              <a:rPr lang="fr-FR"/>
              <a:t>animation-name</a:t>
            </a:r>
          </a:p>
          <a:p>
            <a:r>
              <a:rPr lang="fr-FR"/>
              <a:t>animation-duration</a:t>
            </a:r>
          </a:p>
          <a:p>
            <a:r>
              <a:rPr lang="fr-FR"/>
              <a:t>animation-delay</a:t>
            </a:r>
          </a:p>
          <a:p>
            <a:r>
              <a:rPr lang="fr-FR"/>
              <a:t>animation-direction</a:t>
            </a:r>
          </a:p>
          <a:p>
            <a:r>
              <a:rPr lang="fr-FR"/>
              <a:t>animation-timing-function</a:t>
            </a:r>
          </a:p>
          <a:p>
            <a:r>
              <a:rPr lang="fr-FR"/>
              <a:t>animation-iteration-count</a:t>
            </a:r>
          </a:p>
        </p:txBody>
      </p:sp>
    </p:spTree>
    <p:extLst>
      <p:ext uri="{BB962C8B-B14F-4D97-AF65-F5344CB8AC3E}">
        <p14:creationId xmlns:p14="http://schemas.microsoft.com/office/powerpoint/2010/main" val="2524973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997D882-EBD1-45E7-8472-5061FA9C6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Formes et dessin en CSS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045131B1-F347-4553-821A-1C91D0527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fr-FR"/>
              <a:t>Vous pouvez donner plusieurs formes géométriques basiques à vos éléments en CSS:</a:t>
            </a:r>
          </a:p>
          <a:p>
            <a:r>
              <a:rPr lang="fr-FR"/>
              <a:t>Cercles, ellipses et arrondis avec </a:t>
            </a:r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border-radius</a:t>
            </a:r>
            <a:endParaRPr lang="fr-FR"/>
          </a:p>
          <a:p>
            <a:r>
              <a:rPr lang="fr-FR"/>
              <a:t>Triangles rectangles ou équilatéraux à l'aide de bordures transparentes</a:t>
            </a:r>
          </a:p>
          <a:p>
            <a:r>
              <a:rPr lang="fr-FR"/>
              <a:t>Losanges en appliquant une rotation avec </a:t>
            </a:r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transform: rotate(45deg)</a:t>
            </a:r>
          </a:p>
          <a:p>
            <a:r>
              <a:rPr lang="fr-FR"/>
              <a:t>Parallélogrammes avec </a:t>
            </a:r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transform: skew(45deg)</a:t>
            </a:r>
          </a:p>
          <a:p>
            <a:r>
              <a:rPr lang="fr-FR"/>
              <a:t>Polygones peu complexes à l'aide de pseudo-éléments </a:t>
            </a:r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::before </a:t>
            </a:r>
            <a:r>
              <a:rPr lang="fr-FR"/>
              <a:t>et </a:t>
            </a:r>
            <a:r>
              <a:rPr lang="fr-FR">
                <a:highlight>
                  <a:srgbClr val="000000"/>
                </a:highlight>
                <a:latin typeface="Consolas" panose="020B0609020204030204" pitchFamily="49" charset="0"/>
              </a:rPr>
              <a:t>::after</a:t>
            </a:r>
          </a:p>
          <a:p>
            <a:endParaRPr lang="fr-FR"/>
          </a:p>
          <a:p>
            <a:pPr marL="0" indent="0">
              <a:buNone/>
            </a:pPr>
            <a:r>
              <a:rPr lang="fr-FR"/>
              <a:t>Pour les dessins plus complexes, il faut recourir au </a:t>
            </a:r>
            <a:r>
              <a:rPr lang="fr-FR" b="1"/>
              <a:t>SVG</a:t>
            </a:r>
            <a:r>
              <a:rPr lang="fr-FR"/>
              <a:t>. Les balises SVG étant des éléments HTML, elles peuvent également être stylisée en CSS.</a:t>
            </a:r>
          </a:p>
          <a:p>
            <a:pPr marL="0" indent="0">
              <a:buNone/>
            </a:pPr>
            <a:r>
              <a:rPr lang="fr-FR">
                <a:hlinkClick r:id="rId2"/>
              </a:rPr>
              <a:t>MDN: Tutoriel sur SVG</a:t>
            </a:r>
            <a:endParaRPr lang="en-US"/>
          </a:p>
        </p:txBody>
      </p:sp>
      <p:sp>
        <p:nvSpPr>
          <p:cNvPr id="6" name="Flèche : droite 5">
            <a:hlinkClick r:id="rId3"/>
            <a:extLst>
              <a:ext uri="{FF2B5EF4-FFF2-40B4-BE49-F238E27FC236}">
                <a16:creationId xmlns:a16="http://schemas.microsoft.com/office/drawing/2014/main" id="{26F37A37-513C-4420-BB19-EBD68A39C24D}"/>
              </a:ext>
            </a:extLst>
          </p:cNvPr>
          <p:cNvSpPr/>
          <p:nvPr/>
        </p:nvSpPr>
        <p:spPr>
          <a:xfrm>
            <a:off x="5949617" y="6123966"/>
            <a:ext cx="6242384" cy="71120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/>
              <a:t>Démo en ligne + Exercice "Dessine-moi un sushi"</a:t>
            </a:r>
            <a:endParaRPr lang="en-US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70F02084-4D5A-437E-BD60-57CCAA956AB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8279" y="943384"/>
            <a:ext cx="3164530" cy="7238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0586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3" name="Rectangle 3082">
            <a:extLst>
              <a:ext uri="{FF2B5EF4-FFF2-40B4-BE49-F238E27FC236}">
                <a16:creationId xmlns:a16="http://schemas.microsoft.com/office/drawing/2014/main" id="{69A14AEE-5456-4BDA-84EB-C2C1CEF385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85" name="Rectangle 3084">
            <a:extLst>
              <a:ext uri="{FF2B5EF4-FFF2-40B4-BE49-F238E27FC236}">
                <a16:creationId xmlns:a16="http://schemas.microsoft.com/office/drawing/2014/main" id="{A540A024-AD28-484E-B1FF-FD2491726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8963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7660F04-0A42-426F-94B1-E33CAE9A3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642593"/>
            <a:ext cx="6281928" cy="1744183"/>
          </a:xfrm>
        </p:spPr>
        <p:txBody>
          <a:bodyPr>
            <a:normAutofit/>
          </a:bodyPr>
          <a:lstStyle/>
          <a:p>
            <a:r>
              <a:rPr lang="fr-FR"/>
              <a:t>Utilitaires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85595E-7FCF-4A77-877D-9CE423B3F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8680" y="2386584"/>
            <a:ext cx="6281928" cy="3648456"/>
          </a:xfrm>
        </p:spPr>
        <p:txBody>
          <a:bodyPr>
            <a:normAutofit/>
          </a:bodyPr>
          <a:lstStyle/>
          <a:p>
            <a:r>
              <a:rPr lang="fr-FR">
                <a:hlinkClick r:id="rId2"/>
              </a:rPr>
              <a:t>stylelint</a:t>
            </a:r>
            <a:r>
              <a:rPr lang="fr-FR"/>
              <a:t>: linter (analyse qualité) de code CSS</a:t>
            </a:r>
          </a:p>
          <a:p>
            <a:r>
              <a:rPr lang="fr-FR">
                <a:hlinkClick r:id="rId3"/>
              </a:rPr>
              <a:t>purgeCSS</a:t>
            </a:r>
            <a:r>
              <a:rPr lang="fr-FR"/>
              <a:t>: supprimer le code CSS non utilisé</a:t>
            </a:r>
          </a:p>
          <a:p>
            <a:r>
              <a:rPr lang="fr-FR">
                <a:hlinkClick r:id="rId4"/>
              </a:rPr>
              <a:t>Autoprefixer</a:t>
            </a:r>
            <a:r>
              <a:rPr lang="fr-FR"/>
              <a:t>: ajout automatique de préfixes vendeur pour étendre le support navigateur</a:t>
            </a:r>
          </a:p>
          <a:p>
            <a:r>
              <a:rPr lang="fr-FR">
                <a:hlinkClick r:id="rId5"/>
              </a:rPr>
              <a:t>cssnano</a:t>
            </a:r>
            <a:r>
              <a:rPr lang="fr-FR"/>
              <a:t>: minifier le code CSS pour réduire la taille du fichier et optimiser le chargement</a:t>
            </a:r>
            <a:endParaRPr lang="en-US"/>
          </a:p>
        </p:txBody>
      </p:sp>
      <p:pic>
        <p:nvPicPr>
          <p:cNvPr id="3078" name="Picture 6" descr="PurgeCSS - Remove unused CSS | PurgeCSS">
            <a:extLst>
              <a:ext uri="{FF2B5EF4-FFF2-40B4-BE49-F238E27FC236}">
                <a16:creationId xmlns:a16="http://schemas.microsoft.com/office/drawing/2014/main" id="{528F0A1D-5426-4AFC-9825-3A6748400A2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813937" y="1922908"/>
            <a:ext cx="1077468" cy="10774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87" name="Rectangle 3086">
            <a:extLst>
              <a:ext uri="{FF2B5EF4-FFF2-40B4-BE49-F238E27FC236}">
                <a16:creationId xmlns:a16="http://schemas.microsoft.com/office/drawing/2014/main" id="{53F8CFFC-2146-4041-A031-78CB3F3B8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" y="374904"/>
            <a:ext cx="7142636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fr-FR"/>
          </a:p>
        </p:txBody>
      </p:sp>
      <p:pic>
        <p:nvPicPr>
          <p:cNvPr id="3076" name="Picture 4" descr="7 Front-End Tools For Productivity">
            <a:extLst>
              <a:ext uri="{FF2B5EF4-FFF2-40B4-BE49-F238E27FC236}">
                <a16:creationId xmlns:a16="http://schemas.microsoft.com/office/drawing/2014/main" id="{AB91D305-96B4-40BE-BC37-9886514D72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8669686" y="445920"/>
            <a:ext cx="3321198" cy="1187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6C580F6E-4F2D-41A6-9A1D-014D74E24DF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8194" y="3107531"/>
            <a:ext cx="1991950" cy="15001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Image 7">
            <a:extLst>
              <a:ext uri="{FF2B5EF4-FFF2-40B4-BE49-F238E27FC236}">
                <a16:creationId xmlns:a16="http://schemas.microsoft.com/office/drawing/2014/main" id="{BE787DAB-F9CD-4C59-A879-B722F7889DB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4305" y="5456594"/>
            <a:ext cx="2178916" cy="429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83670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3" name="Rectangle 3082">
            <a:extLst>
              <a:ext uri="{FF2B5EF4-FFF2-40B4-BE49-F238E27FC236}">
                <a16:creationId xmlns:a16="http://schemas.microsoft.com/office/drawing/2014/main" id="{69A14AEE-5456-4BDA-84EB-C2C1CEF385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3085" name="Rectangle 3084">
            <a:extLst>
              <a:ext uri="{FF2B5EF4-FFF2-40B4-BE49-F238E27FC236}">
                <a16:creationId xmlns:a16="http://schemas.microsoft.com/office/drawing/2014/main" id="{A540A024-AD28-484E-B1FF-FD2491726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88963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D7660F04-0A42-426F-94B1-E33CAE9A3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8680" y="642593"/>
            <a:ext cx="6281928" cy="1744183"/>
          </a:xfrm>
        </p:spPr>
        <p:txBody>
          <a:bodyPr>
            <a:normAutofit/>
          </a:bodyPr>
          <a:lstStyle/>
          <a:p>
            <a:r>
              <a:rPr lang="fr-FR"/>
              <a:t>Préprocesseurs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D85595E-7FCF-4A77-877D-9CE423B3F2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8680" y="2386584"/>
            <a:ext cx="6281928" cy="36484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fr-FR"/>
              <a:t>Syntaxe alternative ou surchouche au langage CSS pour être ensuite compilé en CSS standard</a:t>
            </a:r>
          </a:p>
          <a:p>
            <a:pPr marL="0" indent="0">
              <a:buNone/>
            </a:pPr>
            <a:endParaRPr lang="fr-FR"/>
          </a:p>
          <a:p>
            <a:r>
              <a:rPr lang="fr-FR">
                <a:hlinkClick r:id="rId2"/>
              </a:rPr>
              <a:t>SASS/SCSS</a:t>
            </a:r>
            <a:r>
              <a:rPr lang="fr-FR"/>
              <a:t>: le tout en un pensé pour la scalabilité</a:t>
            </a:r>
          </a:p>
          <a:p>
            <a:r>
              <a:rPr lang="fr-FR">
                <a:hlinkClick r:id="rId3"/>
              </a:rPr>
              <a:t>Stylus</a:t>
            </a:r>
            <a:r>
              <a:rPr lang="fr-FR"/>
              <a:t>: la syntaxe alternative la plus synthétique</a:t>
            </a:r>
          </a:p>
          <a:p>
            <a:r>
              <a:rPr lang="fr-FR">
                <a:hlinkClick r:id="rId4"/>
              </a:rPr>
              <a:t>PostCSS</a:t>
            </a:r>
            <a:r>
              <a:rPr lang="fr-FR"/>
              <a:t>: le modulaire avec tout un écosystème de plugins à la carte,</a:t>
            </a:r>
          </a:p>
          <a:p>
            <a:r>
              <a:rPr lang="fr-FR">
                <a:hlinkClick r:id="rId5"/>
              </a:rPr>
              <a:t>cssnext</a:t>
            </a:r>
            <a:r>
              <a:rPr lang="fr-FR"/>
              <a:t>: un plug-in PostCSS pour supporter les dernières nouveautés CSS sur tous les navigateurs</a:t>
            </a:r>
          </a:p>
        </p:txBody>
      </p:sp>
      <p:sp>
        <p:nvSpPr>
          <p:cNvPr id="3087" name="Rectangle 3086">
            <a:extLst>
              <a:ext uri="{FF2B5EF4-FFF2-40B4-BE49-F238E27FC236}">
                <a16:creationId xmlns:a16="http://schemas.microsoft.com/office/drawing/2014/main" id="{53F8CFFC-2146-4041-A031-78CB3F3B88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1856" y="374904"/>
            <a:ext cx="7142636" cy="6108192"/>
          </a:xfrm>
          <a:prstGeom prst="rect">
            <a:avLst/>
          </a:prstGeom>
          <a:noFill/>
          <a:ln w="6350" cap="sq" cmpd="sng" algn="ctr">
            <a:solidFill>
              <a:schemeClr val="tx1">
                <a:lumMod val="75000"/>
                <a:lumOff val="25000"/>
              </a:schemeClr>
            </a:solidFill>
            <a:prstDash val="solid"/>
            <a:miter lim="800000"/>
          </a:ln>
          <a:effectLst/>
        </p:spPr>
        <p:txBody>
          <a:bodyPr/>
          <a:lstStyle/>
          <a:p>
            <a:endParaRPr lang="fr-FR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84649223-8551-4B0D-9BC7-C298617469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9383" y="374904"/>
            <a:ext cx="2438741" cy="1829056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0A310C98-678E-418D-BF59-CA648294656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82895" y="5653087"/>
            <a:ext cx="3237249" cy="900113"/>
          </a:xfrm>
          <a:prstGeom prst="rect">
            <a:avLst/>
          </a:prstGeom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B78991B7-0A8B-4716-B54E-B39F118DA8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92373" y="4298452"/>
            <a:ext cx="3357563" cy="1074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836AD4B3-2BED-40F6-AB43-E5A8757BC8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85791" y="2040808"/>
            <a:ext cx="2045924" cy="19501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075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7936396-BEC4-4A9F-8052-01BAA180F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CSS in JS</a:t>
            </a:r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F8C7BEC-1F67-41EE-8584-134F5D9AFA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/>
              <a:t>Dans les frameworks JavaScript orientés composants comme Angular, Vue ou React, on souhaite souvent isoler les styles CSS entre les composants.</a:t>
            </a:r>
          </a:p>
          <a:p>
            <a:r>
              <a:rPr lang="fr-FR"/>
              <a:t>Les libs dites "CSS in JS" permettent de décrire les styles CSS d'un composant en JavaScript, en générant à la volée des classes avec un nom unique.</a:t>
            </a:r>
            <a:endParaRPr lang="en-US"/>
          </a:p>
        </p:txBody>
      </p:sp>
      <p:pic>
        <p:nvPicPr>
          <p:cNvPr id="4" name="Image 3">
            <a:extLst>
              <a:ext uri="{FF2B5EF4-FFF2-40B4-BE49-F238E27FC236}">
                <a16:creationId xmlns:a16="http://schemas.microsoft.com/office/drawing/2014/main" id="{2851889B-380D-476B-9CF5-644CFA923B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3337751"/>
            <a:ext cx="5639526" cy="3088312"/>
          </a:xfrm>
          <a:prstGeom prst="rect">
            <a:avLst/>
          </a:prstGeom>
        </p:spPr>
      </p:pic>
      <p:pic>
        <p:nvPicPr>
          <p:cNvPr id="6" name="Image 5">
            <a:extLst>
              <a:ext uri="{FF2B5EF4-FFF2-40B4-BE49-F238E27FC236}">
                <a16:creationId xmlns:a16="http://schemas.microsoft.com/office/drawing/2014/main" id="{3A91AB02-6426-435D-98FF-B6072F4E0E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29193" y="3429000"/>
            <a:ext cx="3196007" cy="2371231"/>
          </a:xfrm>
          <a:prstGeom prst="rect">
            <a:avLst/>
          </a:prstGeom>
        </p:spPr>
      </p:pic>
      <p:pic>
        <p:nvPicPr>
          <p:cNvPr id="7" name="Image 6">
            <a:extLst>
              <a:ext uri="{FF2B5EF4-FFF2-40B4-BE49-F238E27FC236}">
                <a16:creationId xmlns:a16="http://schemas.microsoft.com/office/drawing/2014/main" id="{40A2B8BD-ABCC-40B3-8ABF-497886189B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05238" y="4748750"/>
            <a:ext cx="4658395" cy="1617498"/>
          </a:xfrm>
          <a:prstGeom prst="rect">
            <a:avLst/>
          </a:prstGeom>
        </p:spPr>
      </p:pic>
      <p:sp>
        <p:nvSpPr>
          <p:cNvPr id="8" name="Flèche : droite 7">
            <a:extLst>
              <a:ext uri="{FF2B5EF4-FFF2-40B4-BE49-F238E27FC236}">
                <a16:creationId xmlns:a16="http://schemas.microsoft.com/office/drawing/2014/main" id="{8D7A3CAE-9AF4-4B4E-A280-340D94D2E994}"/>
              </a:ext>
            </a:extLst>
          </p:cNvPr>
          <p:cNvSpPr/>
          <p:nvPr/>
        </p:nvSpPr>
        <p:spPr>
          <a:xfrm>
            <a:off x="6096000" y="4501100"/>
            <a:ext cx="1447800" cy="82337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70087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54FA166-15BE-410D-A85D-383461AA9B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CSS in JS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5D0293BB-AEC2-4ADD-968C-A0BB8FE7A7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Avantages</a:t>
            </a:r>
            <a:endParaRPr lang="en-US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CF6BE90E-E0F9-4035-881D-6F404F1924D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fr-FR"/>
              <a:t>la promesse d'isoler complètement les styles entre composants</a:t>
            </a:r>
          </a:p>
          <a:p>
            <a:r>
              <a:rPr lang="fr-FR"/>
              <a:t>moins de dead code, car plus de proximité entre le CSS et le HTML</a:t>
            </a:r>
          </a:p>
          <a:p>
            <a:r>
              <a:rPr lang="fr-FR"/>
              <a:t>la puissance de JavaScript pour manipuler les styles: variables, conditions, boucles, fonctions etc.</a:t>
            </a:r>
          </a:p>
          <a:p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74079333-8D0A-413F-BBFA-62563FC819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Inconvénients</a:t>
            </a:r>
            <a:endParaRPr lang="en-US"/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3C2D3573-E3C3-4802-9255-5EAB5F88F2D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fr-FR"/>
              <a:t>une couche de complexité supplémentaire qui peut manquer</a:t>
            </a:r>
            <a:r>
              <a:rPr lang="en-US"/>
              <a:t> de lisibilité et nécessite une courbe d'apprentissage</a:t>
            </a:r>
          </a:p>
          <a:p>
            <a:r>
              <a:rPr lang="en-US"/>
              <a:t>n'exploite plus du tout la spécificité et la cascade en CSS, remplacée par la logique de composition en JS</a:t>
            </a:r>
          </a:p>
          <a:p>
            <a:r>
              <a:rPr lang="en-US"/>
              <a:t>beaucoup trop de libs différentes et un manque de standardisation</a:t>
            </a:r>
          </a:p>
        </p:txBody>
      </p:sp>
      <p:pic>
        <p:nvPicPr>
          <p:cNvPr id="8" name="Graphique 7" descr="Balance de la justice">
            <a:extLst>
              <a:ext uri="{FF2B5EF4-FFF2-40B4-BE49-F238E27FC236}">
                <a16:creationId xmlns:a16="http://schemas.microsoft.com/office/drawing/2014/main" id="{4AD7C6FC-4566-4D5B-B1A5-946AFC2736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641848" y="1174835"/>
            <a:ext cx="914400" cy="914400"/>
          </a:xfrm>
          <a:prstGeom prst="rect">
            <a:avLst/>
          </a:prstGeom>
        </p:spPr>
      </p:pic>
      <p:sp>
        <p:nvSpPr>
          <p:cNvPr id="9" name="ZoneTexte 8">
            <a:hlinkClick r:id="rId4"/>
            <a:extLst>
              <a:ext uri="{FF2B5EF4-FFF2-40B4-BE49-F238E27FC236}">
                <a16:creationId xmlns:a16="http://schemas.microsoft.com/office/drawing/2014/main" id="{14A11F12-15E4-49B1-9F9A-2CD21BE7C9F8}"/>
              </a:ext>
            </a:extLst>
          </p:cNvPr>
          <p:cNvSpPr txBox="1"/>
          <p:nvPr/>
        </p:nvSpPr>
        <p:spPr>
          <a:xfrm>
            <a:off x="1063752" y="5956298"/>
            <a:ext cx="36327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>
                <a:hlinkClick r:id="rId4"/>
              </a:rPr>
              <a:t>Liste de bibliothèques CSS in JS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16651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935F37D-034F-418D-A190-0D19A810E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CSS dans les frameworks JS</a:t>
            </a:r>
            <a:endParaRPr lang="en-US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E73EEEBB-0B3D-4E7A-A176-1ED0D5BAB6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/>
              <a:t>Angular</a:t>
            </a:r>
            <a:endParaRPr lang="en-US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66828B91-54BB-45F2-B4FB-7348865456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fr-FR"/>
              <a:t>Vue.js</a:t>
            </a:r>
            <a:endParaRPr lang="en-US"/>
          </a:p>
        </p:txBody>
      </p:sp>
      <p:pic>
        <p:nvPicPr>
          <p:cNvPr id="8194" name="Picture 2" descr="The State of CSS in Angular. Styling applications is a critical part… | by  Stephen Fluin | Angular Blog">
            <a:extLst>
              <a:ext uri="{FF2B5EF4-FFF2-40B4-BE49-F238E27FC236}">
                <a16:creationId xmlns:a16="http://schemas.microsoft.com/office/drawing/2014/main" id="{A2E6AD5B-8E5C-4DDB-9614-70E244C693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899" y="2905667"/>
            <a:ext cx="5867400" cy="1647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Flèche : droite 6">
            <a:extLst>
              <a:ext uri="{FF2B5EF4-FFF2-40B4-BE49-F238E27FC236}">
                <a16:creationId xmlns:a16="http://schemas.microsoft.com/office/drawing/2014/main" id="{EF1975A0-D6CE-48FD-B7AC-E80B45F9CF73}"/>
              </a:ext>
            </a:extLst>
          </p:cNvPr>
          <p:cNvSpPr/>
          <p:nvPr/>
        </p:nvSpPr>
        <p:spPr>
          <a:xfrm rot="10800000">
            <a:off x="3657600" y="3848100"/>
            <a:ext cx="657225" cy="1619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A225ED07-E764-4071-821B-C950E05D22CA}"/>
              </a:ext>
            </a:extLst>
          </p:cNvPr>
          <p:cNvSpPr txBox="1"/>
          <p:nvPr/>
        </p:nvSpPr>
        <p:spPr>
          <a:xfrm>
            <a:off x="1066800" y="4794725"/>
            <a:ext cx="99441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/>
              <a:t>Les styles sont scopés par composant: </a:t>
            </a:r>
            <a:br>
              <a:rPr lang="fr-FR"/>
            </a:br>
            <a:r>
              <a:rPr lang="fr-FR"/>
              <a:t>le framework génère et ajoute une classe unique devant chaque sélecteur</a:t>
            </a:r>
            <a:endParaRPr lang="en-US"/>
          </a:p>
        </p:txBody>
      </p:sp>
      <p:pic>
        <p:nvPicPr>
          <p:cNvPr id="9" name="Image 8">
            <a:extLst>
              <a:ext uri="{FF2B5EF4-FFF2-40B4-BE49-F238E27FC236}">
                <a16:creationId xmlns:a16="http://schemas.microsoft.com/office/drawing/2014/main" id="{138A43E8-2CAE-48FC-A7A3-DC777E75A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17" y="2782963"/>
            <a:ext cx="2569694" cy="1927271"/>
          </a:xfrm>
          <a:prstGeom prst="rect">
            <a:avLst/>
          </a:prstGeom>
        </p:spPr>
      </p:pic>
      <p:pic>
        <p:nvPicPr>
          <p:cNvPr id="10" name="Image 9">
            <a:extLst>
              <a:ext uri="{FF2B5EF4-FFF2-40B4-BE49-F238E27FC236}">
                <a16:creationId xmlns:a16="http://schemas.microsoft.com/office/drawing/2014/main" id="{AD61DA10-622A-4047-B933-1B349AA7972F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r="27336"/>
          <a:stretch/>
        </p:blipFill>
        <p:spPr>
          <a:xfrm>
            <a:off x="9301048" y="2865862"/>
            <a:ext cx="2479825" cy="1887888"/>
          </a:xfrm>
          <a:prstGeom prst="rect">
            <a:avLst/>
          </a:prstGeom>
        </p:spPr>
      </p:pic>
      <p:sp>
        <p:nvSpPr>
          <p:cNvPr id="12" name="Flèche : droite 11">
            <a:extLst>
              <a:ext uri="{FF2B5EF4-FFF2-40B4-BE49-F238E27FC236}">
                <a16:creationId xmlns:a16="http://schemas.microsoft.com/office/drawing/2014/main" id="{486CEA42-5C18-41A5-9C35-E4660A77BEB4}"/>
              </a:ext>
            </a:extLst>
          </p:cNvPr>
          <p:cNvSpPr/>
          <p:nvPr/>
        </p:nvSpPr>
        <p:spPr>
          <a:xfrm>
            <a:off x="8750808" y="3348037"/>
            <a:ext cx="657225" cy="16192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196" name="Picture 4">
            <a:extLst>
              <a:ext uri="{FF2B5EF4-FFF2-40B4-BE49-F238E27FC236}">
                <a16:creationId xmlns:a16="http://schemas.microsoft.com/office/drawing/2014/main" id="{5F47FB55-BB6D-4C8F-8B4D-47C5A82FC8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780" y="1889751"/>
            <a:ext cx="953869" cy="9538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198" name="Picture 6">
            <a:extLst>
              <a:ext uri="{FF2B5EF4-FFF2-40B4-BE49-F238E27FC236}">
                <a16:creationId xmlns:a16="http://schemas.microsoft.com/office/drawing/2014/main" id="{47A7244A-7808-4AA5-B315-38EB4AD67E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86523" y="2063596"/>
            <a:ext cx="751002" cy="6508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ZoneTexte 14">
            <a:extLst>
              <a:ext uri="{FF2B5EF4-FFF2-40B4-BE49-F238E27FC236}">
                <a16:creationId xmlns:a16="http://schemas.microsoft.com/office/drawing/2014/main" id="{274E3959-510C-445D-92F1-21A6B2727715}"/>
              </a:ext>
            </a:extLst>
          </p:cNvPr>
          <p:cNvSpPr txBox="1"/>
          <p:nvPr/>
        </p:nvSpPr>
        <p:spPr>
          <a:xfrm>
            <a:off x="2784945" y="5576848"/>
            <a:ext cx="8422105" cy="646331"/>
          </a:xfrm>
          <a:prstGeom prst="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marL="274320" lvl="1" indent="0">
              <a:buNone/>
            </a:pPr>
            <a:r>
              <a:rPr lang="en-US" b="1"/>
              <a:t>Cela ne rend pas caduc les feuilles de styles globales, qui permettent d'avoir un style homogène et d'éviter la duplication de code</a:t>
            </a:r>
          </a:p>
        </p:txBody>
      </p:sp>
    </p:spTree>
    <p:extLst>
      <p:ext uri="{BB962C8B-B14F-4D97-AF65-F5344CB8AC3E}">
        <p14:creationId xmlns:p14="http://schemas.microsoft.com/office/powerpoint/2010/main" val="1672337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00000">
              <a:schemeClr val="accent1"/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4C2415-B47E-476B-BE33-9F1CC647D1B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/>
              <a:t>Formation HTML/CSS</a:t>
            </a:r>
            <a:endParaRPr lang="en-US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D15AE144-5818-4FAA-B6E5-81205D49E2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/>
              <a:t>Debrief / Q&amp;A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65301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avon">
  <a:themeElements>
    <a:clrScheme name="Rouge">
      <a:dk1>
        <a:sysClr val="windowText" lastClr="000000"/>
      </a:dk1>
      <a:lt1>
        <a:sysClr val="window" lastClr="FFFFFF"/>
      </a:lt1>
      <a:dk2>
        <a:srgbClr val="323232"/>
      </a:dk2>
      <a:lt2>
        <a:srgbClr val="E5C243"/>
      </a:lt2>
      <a:accent1>
        <a:srgbClr val="A5300F"/>
      </a:accent1>
      <a:accent2>
        <a:srgbClr val="D55816"/>
      </a:accent2>
      <a:accent3>
        <a:srgbClr val="E19825"/>
      </a:accent3>
      <a:accent4>
        <a:srgbClr val="B19C7D"/>
      </a:accent4>
      <a:accent5>
        <a:srgbClr val="7F5F52"/>
      </a:accent5>
      <a:accent6>
        <a:srgbClr val="B27D49"/>
      </a:accent6>
      <a:hlink>
        <a:srgbClr val="6B9F25"/>
      </a:hlink>
      <a:folHlink>
        <a:srgbClr val="B26B02"/>
      </a:folHlink>
    </a:clrScheme>
    <a:fontScheme name="Savon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avo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5000"/>
                <a:lumMod val="105000"/>
              </a:schemeClr>
            </a:gs>
            <a:gs pos="100000">
              <a:schemeClr val="phClr">
                <a:tint val="65000"/>
                <a:satMod val="100000"/>
                <a:lumMod val="10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0000"/>
                <a:lumMod val="100000"/>
              </a:schemeClr>
            </a:gs>
            <a:gs pos="50000">
              <a:schemeClr val="phClr">
                <a:shade val="99000"/>
                <a:satMod val="105000"/>
                <a:lumMod val="100000"/>
              </a:schemeClr>
            </a:gs>
            <a:gs pos="100000">
              <a:schemeClr val="phClr">
                <a:shade val="98000"/>
                <a:satMod val="105000"/>
                <a:lumMod val="100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12700" dir="5400000" algn="ctr" rotWithShape="0">
              <a:srgbClr val="000000">
                <a:alpha val="63000"/>
              </a:srgbClr>
            </a:outerShdw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cene3d>
            <a:camera prst="orthographicFront">
              <a:rot lat="0" lon="0" rev="0"/>
            </a:camera>
            <a:lightRig rig="flat" dir="tl">
              <a:rot lat="0" lon="0" rev="4200000"/>
            </a:lightRig>
          </a:scene3d>
          <a:sp3d prstMaterial="flat">
            <a:bevelT w="50800" h="63500" prst="rible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hade val="100000"/>
                <a:satMod val="300000"/>
              </a:schemeClr>
            </a:gs>
            <a:gs pos="100000">
              <a:schemeClr val="phClr">
                <a:tint val="100000"/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5000"/>
              </a:schemeClr>
              <a:schemeClr val="phClr">
                <a:shade val="92000"/>
                <a:satMod val="115000"/>
              </a:schemeClr>
            </a:duotone>
          </a:blip>
          <a:tile tx="0" ty="0" sx="60000" sy="6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avon" id="{1306E473-ED32-493B-A2D0-240A757EDD34}" vid="{913DB040-6816-4415-960D-8178C785755E}"/>
    </a:ext>
  </a:extLst>
</a:theme>
</file>

<file path=docMetadata/LabelInfo.xml><?xml version="1.0" encoding="utf-8"?>
<clbl:labelList xmlns:clbl="http://schemas.microsoft.com/office/2020/mipLabelMetadata">
  <clbl:label id="{0a217bfd-7fc6-4e23-babe-07368f99370d}" enabled="1" method="Standard" siteId="{fda9decf-e892-43ac-9d9f-1a493f9f98d0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TM03457510[[fn=Savon]]</Template>
  <TotalTime>0</TotalTime>
  <Words>1897</Words>
  <Application>Microsoft Office PowerPoint</Application>
  <PresentationFormat>Grand écran</PresentationFormat>
  <Paragraphs>269</Paragraphs>
  <Slides>28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Arial</vt:lpstr>
      <vt:lpstr>Century Gothic</vt:lpstr>
      <vt:lpstr>Consolas</vt:lpstr>
      <vt:lpstr>Wingdings 2</vt:lpstr>
      <vt:lpstr>Savon</vt:lpstr>
      <vt:lpstr>Formation HTML/CSS</vt:lpstr>
      <vt:lpstr>Agenda</vt:lpstr>
      <vt:lpstr>Les fondamentaux de HTML</vt:lpstr>
      <vt:lpstr>HTML et Sémantique</vt:lpstr>
      <vt:lpstr>Les fondamentaux de CSS</vt:lpstr>
      <vt:lpstr>Spécificité des sélecteurs</vt:lpstr>
      <vt:lpstr>Cascade</vt:lpstr>
      <vt:lpstr>Héritage</vt:lpstr>
      <vt:lpstr>"Flow" le flux de contenu</vt:lpstr>
      <vt:lpstr>Modèle de boîte</vt:lpstr>
      <vt:lpstr>Positionnement</vt:lpstr>
      <vt:lpstr>Unités en CSS</vt:lpstr>
      <vt:lpstr>Flex  &amp;  Grid</vt:lpstr>
      <vt:lpstr>Media queries</vt:lpstr>
      <vt:lpstr>Container queries</vt:lpstr>
      <vt:lpstr>Responsive Web Design</vt:lpstr>
      <vt:lpstr>Responsive Web Design</vt:lpstr>
      <vt:lpstr>TYPOGRAPHIE</vt:lpstr>
      <vt:lpstr>images</vt:lpstr>
      <vt:lpstr>Interactions</vt:lpstr>
      <vt:lpstr>Transitions et Animations</vt:lpstr>
      <vt:lpstr>Formes et dessin en CSS</vt:lpstr>
      <vt:lpstr>Utilitaires</vt:lpstr>
      <vt:lpstr>Préprocesseurs</vt:lpstr>
      <vt:lpstr>CSS in JS</vt:lpstr>
      <vt:lpstr>CSS in JS</vt:lpstr>
      <vt:lpstr>CSS dans les frameworks JS</vt:lpstr>
      <vt:lpstr>Formation HTML/CSS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HTML/CSS</dc:title>
  <dc:creator>POLLET VILLARD, SYLVAIN</dc:creator>
  <cp:lastModifiedBy>POLLET VILLARD, SYLVAIN</cp:lastModifiedBy>
  <cp:revision>98</cp:revision>
  <dcterms:created xsi:type="dcterms:W3CDTF">2022-07-11T09:41:08Z</dcterms:created>
  <dcterms:modified xsi:type="dcterms:W3CDTF">2025-12-03T15:45:21Z</dcterms:modified>
</cp:coreProperties>
</file>